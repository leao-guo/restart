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handoutMasterIdLst>
    <p:handoutMasterId r:id="rId13"/>
  </p:handoutMasterIdLst>
  <p:sldIdLst>
    <p:sldId id="1407" r:id="rId4"/>
    <p:sldId id="1409" r:id="rId6"/>
    <p:sldId id="1415" r:id="rId7"/>
    <p:sldId id="1408" r:id="rId8"/>
    <p:sldId id="1414" r:id="rId9"/>
    <p:sldId id="1412" r:id="rId10"/>
    <p:sldId id="1410" r:id="rId11"/>
    <p:sldId id="1411" r:id="rId12"/>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正文" id="{C31893FB-8015-4236-9B56-59C099BB185E}">
          <p14:sldIdLst>
            <p14:sldId id="1407"/>
            <p14:sldId id="1409"/>
            <p14:sldId id="1415"/>
            <p14:sldId id="1408"/>
            <p14:sldId id="1414"/>
            <p14:sldId id="1412"/>
            <p14:sldId id="1410"/>
            <p14:sldId id="1411"/>
          </p14:sldIdLst>
        </p14:section>
      </p14:sectionLst>
    </p:ext>
    <p:ext uri="{EFAFB233-063F-42B5-8137-9DF3F51BA10A}">
      <p15:sldGuideLst xmlns:p15="http://schemas.microsoft.com/office/powerpoint/2012/main">
        <p15:guide id="1" orient="horz" pos="2115" userDrawn="1">
          <p15:clr>
            <a:srgbClr val="A4A3A4"/>
          </p15:clr>
        </p15:guide>
        <p15:guide id="3" pos="3865" userDrawn="1">
          <p15:clr>
            <a:srgbClr val="A4A3A4"/>
          </p15:clr>
        </p15:guide>
        <p15:guide id="4" orient="horz" pos="61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a Vida Villanueva" initials="MVV" lastIdx="1" clrIdx="0"/>
  <p:cmAuthor id="1" name="HP" initials="H" lastIdx="1" clrIdx="0"/>
  <p:cmAuthor id="2" name="作者" initials="A" lastIdx="1" clrIdx="1"/>
  <p:cmAuthor id="3" name="lenovo" initials="l" lastIdx="6" clrIdx="2"/>
  <p:cmAuthor id="4" name="Administrator" initials="A" lastIdx="4" clrIdx="3"/>
  <p:cmAuthor id="5" name="宋洁然" initials="宋" lastIdx="2" clrIdx="1"/>
  <p:cmAuthor id="6" name="ming qiu" initials="m" lastIdx="17" clrIdx="1"/>
  <p:cmAuthor id="7" name="1206988966@qq.com" initials="1" lastIdx="1" clrIdx="2"/>
  <p:cmAuthor id="8" name="姜伟光" initials="姜" lastIdx="1" clrIdx="0"/>
  <p:cmAuthor id="10" name="CN" initials="C" lastIdx="1" clrIdx="9"/>
  <p:cmAuthor id="11" name="cpr140" initials="c" lastIdx="1" clrIdx="10"/>
  <p:cmAuthor id="12" name="CN-91" initials="C9" lastIdx="1" clrIdx="11"/>
  <p:cmAuthor id="13" name="CNNP" initials="C" lastIdx="1" clrIdx="12"/>
  <p:cmAuthor id="15" name="Windows User" initials="WU" lastIdx="1" clrIdx="0"/>
  <p:cmAuthor id="16" name="HXQC" initials="H" lastIdx="1" clrIdx="15"/>
  <p:cmAuthor id="17" name="793459476@qq.com" initials="" lastIdx="1" clrIdx="1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0F3C"/>
    <a:srgbClr val="052AB6"/>
    <a:srgbClr val="0525A0"/>
    <a:srgbClr val="04CE1A"/>
    <a:srgbClr val="0527A5"/>
    <a:srgbClr val="0429BF"/>
    <a:srgbClr val="FEFEFE"/>
    <a:srgbClr val="202DCE"/>
    <a:srgbClr val="0329BC"/>
    <a:srgbClr val="2D5C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83465" autoAdjust="0"/>
  </p:normalViewPr>
  <p:slideViewPr>
    <p:cSldViewPr snapToGrid="0" showGuides="1">
      <p:cViewPr varScale="1">
        <p:scale>
          <a:sx n="57" d="100"/>
          <a:sy n="57" d="100"/>
        </p:scale>
        <p:origin x="1024" y="36"/>
      </p:cViewPr>
      <p:guideLst>
        <p:guide orient="horz" pos="2115"/>
        <p:guide pos="3865"/>
        <p:guide orient="horz" pos="614"/>
      </p:guideLst>
    </p:cSldViewPr>
  </p:slideViewPr>
  <p:notesTextViewPr>
    <p:cViewPr>
      <p:scale>
        <a:sx n="1" d="1"/>
        <a:sy n="1" d="1"/>
      </p:scale>
      <p:origin x="0" y="0"/>
    </p:cViewPr>
  </p:notesTextViewPr>
  <p:notesViewPr>
    <p:cSldViewPr snapToGrid="0">
      <p:cViewPr varScale="1">
        <p:scale>
          <a:sx n="66" d="100"/>
          <a:sy n="66" d="100"/>
        </p:scale>
        <p:origin x="3134" y="67"/>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8" Type="http://schemas.openxmlformats.org/officeDocument/2006/relationships/tags" Target="tags/tag7.xml"/><Relationship Id="rId17" Type="http://schemas.openxmlformats.org/officeDocument/2006/relationships/commentAuthors" Target="commentAuthors.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handoutMaster" Target="handoutMasters/handoutMaster1.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7453949-30F6-4DF9-BE98-83B099B2252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7EC5AB-32DF-4366-873F-6083A1947984}"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1B8066-DB9C-42F0-A4DC-C609D5E07CE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D66A6D-E02C-45A9-B30B-8A2EE0AD7F2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a:ln>
            <a:solidFill>
              <a:srgbClr val="000000"/>
            </a:solidFill>
            <a:miter/>
          </a:ln>
        </p:spPr>
      </p:sp>
      <p:sp>
        <p:nvSpPr>
          <p:cNvPr id="4099" name="备注占位符 2"/>
          <p:cNvSpPr>
            <a:spLocks noGrp="1"/>
          </p:cNvSpPr>
          <p:nvPr>
            <p:ph type="body" idx="1"/>
          </p:nvPr>
        </p:nvSpPr>
        <p:spPr>
          <a:noFill/>
          <a:ln>
            <a:noFill/>
          </a:ln>
        </p:spPr>
        <p:txBody>
          <a:bodyPr wrap="square" lIns="91440" tIns="45720" rIns="91440" bIns="45720" anchor="t" anchorCtr="0"/>
          <a:lstStyle/>
          <a:p>
            <a:pPr lvl="0">
              <a:spcBef>
                <a:spcPct val="0"/>
              </a:spcBef>
            </a:pPr>
            <a:endParaRPr lang="zh-CN" altLang="en-US" dirty="0">
              <a:ea typeface="等线" panose="02010600030101010101" charset="-122"/>
            </a:endParaRPr>
          </a:p>
        </p:txBody>
      </p:sp>
      <p:sp>
        <p:nvSpPr>
          <p:cNvPr id="410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zh-CN" altLang="en-US" sz="1200" dirty="0">
                <a:latin typeface="等线" panose="02010600030101010101" charset="-122"/>
                <a:ea typeface="等线" panose="02010600030101010101" charset="-122"/>
              </a:rPr>
            </a:fld>
            <a:endParaRPr lang="zh-CN" altLang="en-US" sz="1200" dirty="0">
              <a:latin typeface="等线" panose="02010600030101010101" charset="-122"/>
              <a:ea typeface="等线" panose="02010600030101010101"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3403796-96AB-45AF-A960-6D376A1526C2}"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3403796-96AB-45AF-A960-6D376A1526C2}"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3403796-96AB-45AF-A960-6D376A1526C2}"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3403796-96AB-45AF-A960-6D376A1526C2}"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3403796-96AB-45AF-A960-6D376A1526C2}"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3403796-96AB-45AF-A960-6D376A1526C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日期占位符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zh-CN" dirty="0">
                <a:latin typeface="Calibri" panose="020F0502020204030204" pitchFamily="34" charset="0"/>
              </a:rPr>
            </a:fld>
            <a:endParaRPr lang="zh-CN" altLang="zh-CN" dirty="0">
              <a:latin typeface="Calibri" panose="020F050202020403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日期占位符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zh-CN" dirty="0">
                <a:latin typeface="Calibri" panose="020F0502020204030204" pitchFamily="34" charset="0"/>
              </a:rPr>
            </a:fld>
            <a:endParaRPr lang="zh-CN" altLang="zh-CN" dirty="0">
              <a:latin typeface="Calibri" panose="020F050202020403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zh-CN" dirty="0">
                <a:latin typeface="Calibri" panose="020F0502020204030204" pitchFamily="34" charset="0"/>
              </a:rPr>
            </a:fld>
            <a:endParaRPr lang="zh-CN" altLang="zh-CN" dirty="0">
              <a:latin typeface="Calibri" panose="020F050202020403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zh-CN" dirty="0">
                <a:latin typeface="Calibri" panose="020F0502020204030204" pitchFamily="34" charset="0"/>
              </a:rPr>
            </a:fld>
            <a:endParaRPr lang="zh-CN" altLang="zh-CN" dirty="0">
              <a:latin typeface="Calibri" panose="020F050202020403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日期占位符 6"/>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zh-CN" altLang="zh-CN" dirty="0">
                <a:latin typeface="Calibri" panose="020F0502020204030204" pitchFamily="34" charset="0"/>
              </a:rPr>
            </a:fld>
            <a:endParaRPr lang="zh-CN" altLang="zh-CN" dirty="0">
              <a:latin typeface="Calibri" panose="020F050202020403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日期占位符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zh-CN" dirty="0">
                <a:latin typeface="Calibri" panose="020F0502020204030204" pitchFamily="34" charset="0"/>
              </a:rPr>
            </a:fld>
            <a:endParaRPr lang="zh-CN" altLang="zh-CN" dirty="0">
              <a:latin typeface="Calibri" panose="020F050202020403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zh-CN" altLang="zh-CN" dirty="0">
                <a:latin typeface="Calibri" panose="020F0502020204030204" pitchFamily="34" charset="0"/>
              </a:rPr>
            </a:fld>
            <a:endParaRPr lang="zh-CN" altLang="zh-CN" dirty="0">
              <a:latin typeface="Calibri" panose="020F050202020403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zh-CN" dirty="0">
                <a:latin typeface="Calibri" panose="020F0502020204030204" pitchFamily="34" charset="0"/>
              </a:rPr>
            </a:fld>
            <a:endParaRPr lang="zh-CN" altLang="zh-CN" dirty="0">
              <a:latin typeface="Calibri" panose="020F050202020403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vert="horz" lIns="91440" tIns="45720" rIns="91440" bIns="45720" rtlCol="0" anchor="t">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32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zh-CN" dirty="0">
                <a:latin typeface="Calibri" panose="020F0502020204030204" pitchFamily="34" charset="0"/>
              </a:rPr>
            </a:fld>
            <a:endParaRPr lang="zh-CN" altLang="zh-CN" dirty="0">
              <a:latin typeface="Calibri" panose="020F050202020403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日期占位符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zh-CN" dirty="0">
                <a:latin typeface="Calibri" panose="020F0502020204030204" pitchFamily="34" charset="0"/>
              </a:rPr>
            </a:fld>
            <a:endParaRPr lang="zh-CN" altLang="zh-CN" dirty="0">
              <a:latin typeface="Calibri" panose="020F050202020403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日期占位符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zh-CN" dirty="0">
                <a:latin typeface="Calibri" panose="020F0502020204030204" pitchFamily="34" charset="0"/>
              </a:rPr>
            </a:fld>
            <a:endParaRPr lang="zh-CN" altLang="zh-CN" dirty="0">
              <a:latin typeface="Calibri" panose="020F050202020403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文字图片为主">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sp>
        <p:nvSpPr>
          <p:cNvPr id="6" name="灯片编号占位符 5"/>
          <p:cNvSpPr>
            <a:spLocks noGrp="1"/>
          </p:cNvSpPr>
          <p:nvPr>
            <p:ph type="sldNum" sz="quarter" idx="12"/>
          </p:nvPr>
        </p:nvSpPr>
        <p:spPr>
          <a:xfrm>
            <a:off x="527157" y="6596742"/>
            <a:ext cx="595993" cy="293914"/>
          </a:xfrm>
          <a:prstGeom prst="rect">
            <a:avLst/>
          </a:prstGeom>
        </p:spPr>
        <p:txBody>
          <a:bodyPr/>
          <a:lstStyle>
            <a:lvl1pPr>
              <a:defRPr sz="900">
                <a:solidFill>
                  <a:schemeClr val="bg1"/>
                </a:solidFill>
                <a:latin typeface="微软雅黑 Semibold" panose="020B0702040204020203" pitchFamily="34" charset="-122"/>
                <a:ea typeface="微软雅黑 Semibold" panose="020B0702040204020203" pitchFamily="34"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prstClr val="white"/>
                </a:solidFill>
                <a:effectLst/>
                <a:uLnTx/>
                <a:uFillTx/>
                <a:ea typeface="微软雅黑 Semibold" panose="020B0702040204020203" pitchFamily="34" charset="-122"/>
                <a:cs typeface="+mn-cs"/>
              </a:rPr>
              <a:t>0</a:t>
            </a:r>
            <a:fld id="{5A78142F-0DAA-4950-B930-20DA16708E47}" type="slidenum">
              <a:rPr kumimoji="0" lang="zh-CN" altLang="en-US" sz="900" b="0" i="0" u="none" strike="noStrike" kern="1200" cap="none" spc="0" normalizeH="0" baseline="0" noProof="0" smtClean="0">
                <a:ln>
                  <a:noFill/>
                </a:ln>
                <a:solidFill>
                  <a:prstClr val="white"/>
                </a:solidFill>
                <a:effectLst/>
                <a:uLnTx/>
                <a:uFillTx/>
                <a:ea typeface="微软雅黑 Semibold" panose="020B0702040204020203" pitchFamily="34" charset="-122"/>
                <a:cs typeface="+mn-cs"/>
              </a:rPr>
            </a:fld>
            <a:endParaRPr kumimoji="0" lang="zh-CN" altLang="en-US" sz="900" b="0" i="0" u="none" strike="noStrike" kern="1200" cap="none" spc="0" normalizeH="0" baseline="0" noProof="0" dirty="0">
              <a:ln>
                <a:noFill/>
              </a:ln>
              <a:solidFill>
                <a:prstClr val="white"/>
              </a:solidFill>
              <a:effectLst/>
              <a:uLnTx/>
              <a:uFillTx/>
              <a:ea typeface="微软雅黑 Semibold" panose="020B0702040204020203"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0" advClick="0" advTm="3000"/>
    </mc:Choice>
    <mc:Fallback>
      <p:transition advClick="0" advTm="300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9" name="矩形 8"/>
          <p:cNvSpPr/>
          <p:nvPr userDrawn="1"/>
        </p:nvSpPr>
        <p:spPr>
          <a:xfrm>
            <a:off x="4419600" y="0"/>
            <a:ext cx="77724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6" name="文本框 5"/>
          <p:cNvSpPr txBox="1"/>
          <p:nvPr userDrawn="1"/>
        </p:nvSpPr>
        <p:spPr>
          <a:xfrm>
            <a:off x="5924550" y="3143131"/>
            <a:ext cx="4286250"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rPr>
              <a:t>中文字体</a:t>
            </a:r>
            <a:br>
              <a:rPr kumimoji="0" lang="en-US" altLang="zh-CN" sz="3600" b="1" i="0" u="none" strike="noStrike" kern="1200" cap="none" spc="0" normalizeH="0" baseline="0" noProof="0">
                <a:ln>
                  <a:noFill/>
                </a:ln>
                <a:solidFill>
                  <a:srgbClr val="0028AA">
                    <a:lumMod val="20000"/>
                    <a:lumOff val="80000"/>
                  </a:srgbClr>
                </a:solidFill>
                <a:effectLst/>
                <a:uLnTx/>
                <a:uFillTx/>
                <a:latin typeface="Arial" panose="020B0604020202020204"/>
                <a:ea typeface="微软雅黑" panose="020B0503020204020204" pitchFamily="34" charset="-122"/>
                <a:cs typeface="+mn-cs"/>
              </a:rPr>
            </a:br>
            <a:r>
              <a:rPr kumimoji="0" lang="zh-CN" altLang="en-US" sz="3600" b="1" i="0" u="none" strike="noStrike" kern="1200" cap="none" spc="0" normalizeH="0" baseline="0" noProof="0">
                <a:ln>
                  <a:noFill/>
                </a:ln>
                <a:solidFill>
                  <a:srgbClr val="0028AA"/>
                </a:solidFill>
                <a:effectLst/>
                <a:uLnTx/>
                <a:uFillTx/>
                <a:latin typeface="Arial" panose="020B0604020202020204"/>
                <a:ea typeface="微软雅黑" panose="020B0503020204020204" pitchFamily="34" charset="-122"/>
                <a:cs typeface="+mn-cs"/>
              </a:rPr>
              <a:t>微软雅黑</a:t>
            </a:r>
            <a:endParaRPr kumimoji="0" lang="zh-CN" altLang="en-US" sz="3600" b="0" i="0" u="none" strike="noStrike" kern="1200" cap="none" spc="0" normalizeH="0" baseline="0" noProof="0">
              <a:ln>
                <a:noFill/>
              </a:ln>
              <a:solidFill>
                <a:srgbClr val="0028AA"/>
              </a:solidFill>
              <a:effectLst/>
              <a:uLnTx/>
              <a:uFillTx/>
              <a:latin typeface="Arial" panose="020B0604020202020204"/>
              <a:ea typeface="微软雅黑" panose="020B0503020204020204" pitchFamily="34" charset="-122"/>
              <a:cs typeface="+mn-cs"/>
            </a:endParaRPr>
          </a:p>
        </p:txBody>
      </p:sp>
      <p:sp>
        <p:nvSpPr>
          <p:cNvPr id="7" name="文本框 6"/>
          <p:cNvSpPr txBox="1"/>
          <p:nvPr userDrawn="1"/>
        </p:nvSpPr>
        <p:spPr>
          <a:xfrm>
            <a:off x="5924550" y="4557266"/>
            <a:ext cx="4286250"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rPr>
              <a:t>英文字体</a:t>
            </a:r>
            <a:br>
              <a:rPr kumimoji="0" lang="en-US" altLang="zh-CN" sz="3600" b="1" i="0" u="none" strike="noStrike" kern="1200" cap="none" spc="0" normalizeH="0" baseline="0" noProof="0">
                <a:ln>
                  <a:noFill/>
                </a:ln>
                <a:solidFill>
                  <a:srgbClr val="0028AA">
                    <a:lumMod val="20000"/>
                    <a:lumOff val="80000"/>
                  </a:srgbClr>
                </a:solidFill>
                <a:effectLst/>
                <a:uLnTx/>
                <a:uFillTx/>
                <a:latin typeface="Arial" panose="020B0604020202020204"/>
                <a:ea typeface="微软雅黑" panose="020B0503020204020204" pitchFamily="34" charset="-122"/>
                <a:cs typeface="+mn-cs"/>
              </a:rPr>
            </a:br>
            <a:r>
              <a:rPr kumimoji="0" lang="en-US" altLang="zh-CN" sz="3600" b="1" i="0" u="none" strike="noStrike" kern="1200" cap="none" spc="0" normalizeH="0" baseline="0" noProof="0">
                <a:ln>
                  <a:noFill/>
                </a:ln>
                <a:solidFill>
                  <a:srgbClr val="0028AA"/>
                </a:solidFill>
                <a:effectLst/>
                <a:uLnTx/>
                <a:uFillTx/>
                <a:latin typeface="Arial" panose="020B0604020202020204"/>
                <a:ea typeface="微软雅黑" panose="020B0503020204020204" pitchFamily="34" charset="-122"/>
                <a:cs typeface="+mn-cs"/>
              </a:rPr>
              <a:t>Arial</a:t>
            </a:r>
            <a:endParaRPr kumimoji="0" lang="zh-CN" altLang="en-US" sz="3600" b="0" i="0" u="none" strike="noStrike" kern="1200" cap="none" spc="0" normalizeH="0" baseline="0" noProof="0">
              <a:ln>
                <a:noFill/>
              </a:ln>
              <a:solidFill>
                <a:srgbClr val="0028AA"/>
              </a:solidFill>
              <a:effectLst/>
              <a:uLnTx/>
              <a:uFillTx/>
              <a:latin typeface="Arial" panose="020B0604020202020204"/>
              <a:ea typeface="微软雅黑" panose="020B0503020204020204" pitchFamily="34" charset="-122"/>
              <a:cs typeface="+mn-cs"/>
            </a:endParaRPr>
          </a:p>
        </p:txBody>
      </p:sp>
      <p:sp>
        <p:nvSpPr>
          <p:cNvPr id="8" name="文本框 7"/>
          <p:cNvSpPr txBox="1"/>
          <p:nvPr userDrawn="1"/>
        </p:nvSpPr>
        <p:spPr>
          <a:xfrm>
            <a:off x="5924550" y="1599307"/>
            <a:ext cx="4286250"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rPr>
              <a:t>标题字体</a:t>
            </a:r>
            <a:br>
              <a:rPr kumimoji="0" lang="en-US" altLang="zh-CN" sz="3600" b="1" i="0" u="none" strike="noStrike" kern="1200" cap="none" spc="0" normalizeH="0" baseline="0" noProof="0">
                <a:ln>
                  <a:noFill/>
                </a:ln>
                <a:solidFill>
                  <a:srgbClr val="0028AA">
                    <a:lumMod val="20000"/>
                    <a:lumOff val="80000"/>
                  </a:srgbClr>
                </a:solidFill>
                <a:effectLst/>
                <a:uLnTx/>
                <a:uFillTx/>
                <a:latin typeface="Arial" panose="020B0604020202020204"/>
                <a:ea typeface="微软雅黑" panose="020B0503020204020204" pitchFamily="34" charset="-122"/>
                <a:cs typeface="+mn-cs"/>
              </a:rPr>
            </a:br>
            <a:r>
              <a:rPr kumimoji="0" lang="zh-CN" altLang="en-US" sz="3600" b="1" i="0" u="none" strike="noStrike" kern="1200" cap="none" spc="0" normalizeH="0" baseline="0" noProof="0">
                <a:ln>
                  <a:noFill/>
                </a:ln>
                <a:solidFill>
                  <a:srgbClr val="0028AA"/>
                </a:solidFill>
                <a:effectLst/>
                <a:uLnTx/>
                <a:uFillTx/>
                <a:latin typeface="汉仪雅酷黑 75W" panose="020B0804020202020204" pitchFamily="34" charset="-122"/>
                <a:ea typeface="汉仪雅酷黑 75W" panose="020B0804020202020204" pitchFamily="34" charset="-122"/>
                <a:cs typeface="+mn-cs"/>
              </a:rPr>
              <a:t>汉仪雅酷黑 </a:t>
            </a:r>
            <a:r>
              <a:rPr kumimoji="0" lang="en-US" altLang="zh-CN" sz="3600" b="1" i="0" u="none" strike="noStrike" kern="1200" cap="none" spc="0" normalizeH="0" baseline="0" noProof="0">
                <a:ln>
                  <a:noFill/>
                </a:ln>
                <a:solidFill>
                  <a:srgbClr val="0028AA"/>
                </a:solidFill>
                <a:effectLst/>
                <a:uLnTx/>
                <a:uFillTx/>
                <a:latin typeface="汉仪雅酷黑 75W" panose="020B0804020202020204" pitchFamily="34" charset="-122"/>
                <a:ea typeface="汉仪雅酷黑 75W" panose="020B0804020202020204" pitchFamily="34" charset="-122"/>
                <a:cs typeface="+mn-cs"/>
              </a:rPr>
              <a:t>75W</a:t>
            </a:r>
            <a:endParaRPr kumimoji="0" lang="zh-CN" altLang="en-US" sz="3600" b="0" i="0" u="none" strike="noStrike" kern="1200" cap="none" spc="0" normalizeH="0" baseline="0" noProof="0">
              <a:ln>
                <a:noFill/>
              </a:ln>
              <a:solidFill>
                <a:srgbClr val="0028AA"/>
              </a:solidFill>
              <a:effectLst/>
              <a:uLnTx/>
              <a:uFillTx/>
              <a:latin typeface="汉仪雅酷黑 75W" panose="020B0804020202020204" pitchFamily="34" charset="-122"/>
              <a:ea typeface="汉仪雅酷黑 75W" panose="020B0804020202020204" pitchFamily="34" charset="-122"/>
              <a:cs typeface="+mn-cs"/>
            </a:endParaRPr>
          </a:p>
        </p:txBody>
      </p:sp>
      <p:sp>
        <p:nvSpPr>
          <p:cNvPr id="3" name="矩形 2"/>
          <p:cNvSpPr/>
          <p:nvPr userDrawn="1"/>
        </p:nvSpPr>
        <p:spPr>
          <a:xfrm>
            <a:off x="0" y="0"/>
            <a:ext cx="4419600" cy="1714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rPr>
              <a:t>主色</a:t>
            </a:r>
            <a:endParaRPr kumimoji="0" lang="en-US" altLang="zh-CN" sz="3600" b="1"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a:ln>
                  <a:noFill/>
                </a:ln>
                <a:solidFill>
                  <a:srgbClr val="0028AA">
                    <a:lumMod val="20000"/>
                    <a:lumOff val="80000"/>
                  </a:srgbClr>
                </a:solidFill>
                <a:effectLst/>
                <a:uLnTx/>
                <a:uFillTx/>
                <a:latin typeface="Arial" panose="020B0604020202020204"/>
                <a:ea typeface="微软雅黑" panose="020B0503020204020204" pitchFamily="34" charset="-122"/>
                <a:cs typeface="+mn-cs"/>
              </a:rPr>
              <a:t>#0028AA</a:t>
            </a:r>
            <a:endParaRPr kumimoji="0" lang="zh-CN" altLang="en-US" sz="2400" b="0" i="0" u="none" strike="noStrike" kern="1200" cap="none" spc="0" normalizeH="0" baseline="0" noProof="0">
              <a:ln>
                <a:noFill/>
              </a:ln>
              <a:solidFill>
                <a:srgbClr val="0028AA">
                  <a:lumMod val="20000"/>
                  <a:lumOff val="80000"/>
                </a:srgbClr>
              </a:solidFill>
              <a:effectLst/>
              <a:uLnTx/>
              <a:uFillTx/>
              <a:latin typeface="Arial" panose="020B0604020202020204"/>
              <a:ea typeface="微软雅黑" panose="020B0503020204020204" pitchFamily="34" charset="-122"/>
              <a:cs typeface="+mn-cs"/>
            </a:endParaRPr>
          </a:p>
        </p:txBody>
      </p:sp>
      <p:sp>
        <p:nvSpPr>
          <p:cNvPr id="10" name="矩形 9"/>
          <p:cNvSpPr/>
          <p:nvPr userDrawn="1"/>
        </p:nvSpPr>
        <p:spPr>
          <a:xfrm>
            <a:off x="0" y="1714500"/>
            <a:ext cx="4419600" cy="1714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rPr>
              <a:t>文字</a:t>
            </a:r>
            <a:r>
              <a:rPr kumimoji="0" lang="en-US" altLang="zh-CN" sz="3600" b="1"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rPr>
              <a:t>/</a:t>
            </a:r>
            <a:r>
              <a:rPr kumimoji="0" lang="zh-CN" altLang="en-US" sz="3600" b="1"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rPr>
              <a:t>背景</a:t>
            </a:r>
            <a:endParaRPr kumimoji="0" lang="en-US" altLang="zh-CN" sz="3600" b="1"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rPr>
              <a:t>浅色</a:t>
            </a:r>
            <a:endParaRPr kumimoji="0" lang="zh-CN" altLang="en-US" sz="24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11" name="矩形 10"/>
          <p:cNvSpPr/>
          <p:nvPr userDrawn="1"/>
        </p:nvSpPr>
        <p:spPr>
          <a:xfrm>
            <a:off x="0" y="3429000"/>
            <a:ext cx="4419600" cy="1714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rPr>
              <a:t>文字</a:t>
            </a:r>
            <a:r>
              <a:rPr kumimoji="0" lang="en-US" altLang="zh-CN" sz="3600" b="1"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rPr>
              <a:t>/</a:t>
            </a:r>
            <a:r>
              <a:rPr kumimoji="0" lang="zh-CN" altLang="en-US" sz="3600" b="1"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rPr>
              <a:t>背景</a:t>
            </a:r>
            <a:endParaRPr kumimoji="0" lang="en-US" altLang="zh-CN" sz="3600" b="1"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rPr>
              <a:t>深色</a:t>
            </a: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2" name="矩形 11"/>
          <p:cNvSpPr/>
          <p:nvPr userDrawn="1"/>
        </p:nvSpPr>
        <p:spPr>
          <a:xfrm>
            <a:off x="0" y="5143500"/>
            <a:ext cx="4419600" cy="1714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rPr>
              <a:t>文字</a:t>
            </a:r>
            <a:r>
              <a:rPr kumimoji="0" lang="en-US" altLang="zh-CN" sz="3600" b="1"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rPr>
              <a:t>/</a:t>
            </a:r>
            <a:r>
              <a:rPr kumimoji="0" lang="zh-CN" altLang="en-US" sz="3600" b="1"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rPr>
              <a:t>背景</a:t>
            </a:r>
            <a:endParaRPr kumimoji="0" lang="en-US" altLang="zh-CN" sz="3600" b="1"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rPr>
              <a:t>灰色</a:t>
            </a:r>
            <a:endParaRPr kumimoji="0" lang="zh-CN" altLang="en-US" sz="24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0" advClick="0" advTm="3000"/>
    </mc:Choice>
    <mc:Fallback>
      <p:transition advClick="0" advTm="300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85BFA67-6B66-43B0-B489-FA37B460703A}" type="datetimeFigureOut">
              <a:rPr kumimoji="0" lang="zh-CN" altLang="en-US" sz="1800" b="0" i="0" u="none" strike="noStrike" kern="1200" cap="none" spc="0" normalizeH="0" baseline="0" noProof="0" smtClean="0">
                <a:ln>
                  <a:noFill/>
                </a:ln>
                <a:solidFill>
                  <a:prstClr val="black"/>
                </a:solidFill>
                <a:effectLst/>
                <a:uLnTx/>
                <a:uFillTx/>
                <a:latin typeface="Arial" panose="020B0604020202020204"/>
                <a:ea typeface="微软雅黑" panose="020B0503020204020204" pitchFamily="34" charset="-122"/>
                <a:cs typeface="+mn-cs"/>
              </a:rPr>
            </a:fld>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812FD559-C7ED-4D45-B429-E22177E32127}" type="slidenum">
              <a:rPr kumimoji="0" lang="zh-CN" altLang="en-US" sz="1800" b="0" i="0" u="none" strike="noStrike" kern="1200" cap="none" spc="0" normalizeH="0" baseline="0" noProof="0" smtClean="0">
                <a:ln>
                  <a:noFill/>
                </a:ln>
                <a:solidFill>
                  <a:prstClr val="black"/>
                </a:solidFill>
                <a:effectLst/>
                <a:uLnTx/>
                <a:uFillTx/>
                <a:latin typeface="Arial" panose="020B0604020202020204"/>
                <a:ea typeface="微软雅黑" panose="020B0503020204020204" pitchFamily="34" charset="-122"/>
                <a:cs typeface="+mn-cs"/>
              </a:rPr>
            </a:fld>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0" advClick="0" advTm="3000"/>
    </mc:Choice>
    <mc:Fallback>
      <p:transition advClick="0" advTm="3000"/>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1027" name="Text Placeholder 2"/>
          <p:cNvSpPr>
            <a:spLocks noGrp="1"/>
          </p:cNvSpPr>
          <p:nvPr>
            <p:ph type="body" idx="1"/>
          </p:nvPr>
        </p:nvSpPr>
        <p:spPr>
          <a:xfrm>
            <a:off x="838200" y="1825625"/>
            <a:ext cx="10515600" cy="4351338"/>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zh-C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898989"/>
                </a:solidFill>
                <a:ea typeface="等线" panose="02010600030101010101" charset="-122"/>
              </a:defRPr>
            </a:lvl1pPr>
          </a:lstStyle>
          <a:p>
            <a:pPr lvl="0" eaLnBrk="1" hangingPunct="1">
              <a:buNone/>
            </a:pPr>
            <a:fld id="{9A0DB2DC-4C9A-4742-B13C-FB6460FD3503}" type="slidenum">
              <a:rPr lang="zh-CN" altLang="zh-CN" dirty="0">
                <a:latin typeface="Calibri" panose="020F0502020204030204" pitchFamily="34" charset="0"/>
              </a:rPr>
            </a:fld>
            <a:endParaRPr lang="zh-CN" altLang="zh-CN" dirty="0">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mc:AlternateContent xmlns:mc="http://schemas.openxmlformats.org/markup-compatibility/2006">
    <mc:Choice xmlns:p14="http://schemas.microsoft.com/office/powerpoint/2010/main" Requires="p14">
      <p:transition p14:dur="0" advClick="0" advTm="3000"/>
    </mc:Choice>
    <mc:Fallback>
      <p:transition advClick="0" advTm="3000"/>
    </mc:Fallback>
  </mc:AlternateContent>
  <p:txStyles>
    <p:titleStyle>
      <a:lvl1pPr algn="l" defTabSz="866775" rtl="0" eaLnBrk="1" latinLnBrk="0" hangingPunct="1">
        <a:lnSpc>
          <a:spcPct val="90000"/>
        </a:lnSpc>
        <a:spcBef>
          <a:spcPct val="0"/>
        </a:spcBef>
        <a:buNone/>
        <a:defRPr sz="4170" kern="1200">
          <a:solidFill>
            <a:schemeClr val="tx1"/>
          </a:solidFill>
          <a:latin typeface="+mj-lt"/>
          <a:ea typeface="+mj-ea"/>
          <a:cs typeface="+mj-cs"/>
        </a:defRPr>
      </a:lvl1pPr>
    </p:titleStyle>
    <p:bodyStyle>
      <a:lvl1pPr marL="216535" indent="-216535" algn="l" defTabSz="866775" rtl="0" eaLnBrk="1" latinLnBrk="0" hangingPunct="1">
        <a:lnSpc>
          <a:spcPct val="90000"/>
        </a:lnSpc>
        <a:spcBef>
          <a:spcPts val="950"/>
        </a:spcBef>
        <a:buFont typeface="Arial" panose="020B0604020202020204" pitchFamily="34" charset="0"/>
        <a:buChar char="•"/>
        <a:defRPr sz="2655" kern="1200">
          <a:solidFill>
            <a:schemeClr val="tx1"/>
          </a:solidFill>
          <a:latin typeface="+mn-lt"/>
          <a:ea typeface="+mn-ea"/>
          <a:cs typeface="+mn-cs"/>
        </a:defRPr>
      </a:lvl1pPr>
      <a:lvl2pPr marL="650240" indent="-216535" algn="l" defTabSz="866775" rtl="0" eaLnBrk="1" latinLnBrk="0" hangingPunct="1">
        <a:lnSpc>
          <a:spcPct val="90000"/>
        </a:lnSpc>
        <a:spcBef>
          <a:spcPts val="475"/>
        </a:spcBef>
        <a:buFont typeface="Arial" panose="020B0604020202020204" pitchFamily="34" charset="0"/>
        <a:buChar char="•"/>
        <a:defRPr sz="2275" kern="1200">
          <a:solidFill>
            <a:schemeClr val="tx1"/>
          </a:solidFill>
          <a:latin typeface="+mn-lt"/>
          <a:ea typeface="+mn-ea"/>
          <a:cs typeface="+mn-cs"/>
        </a:defRPr>
      </a:lvl2pPr>
      <a:lvl3pPr marL="1083945" indent="-216535" algn="l" defTabSz="866775" rtl="0" eaLnBrk="1" latinLnBrk="0" hangingPunct="1">
        <a:lnSpc>
          <a:spcPct val="90000"/>
        </a:lnSpc>
        <a:spcBef>
          <a:spcPts val="475"/>
        </a:spcBef>
        <a:buFont typeface="Arial" panose="020B0604020202020204" pitchFamily="34" charset="0"/>
        <a:buChar char="•"/>
        <a:defRPr sz="1895" kern="1200">
          <a:solidFill>
            <a:schemeClr val="tx1"/>
          </a:solidFill>
          <a:latin typeface="+mn-lt"/>
          <a:ea typeface="+mn-ea"/>
          <a:cs typeface="+mn-cs"/>
        </a:defRPr>
      </a:lvl3pPr>
      <a:lvl4pPr marL="1517015"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4pPr>
      <a:lvl5pPr marL="1950720"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5pPr>
      <a:lvl6pPr marL="2383790"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6pPr>
      <a:lvl7pPr marL="2817495"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7pPr>
      <a:lvl8pPr marL="3251200"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8pPr>
      <a:lvl9pPr marL="3684270" indent="-216535" algn="l" defTabSz="866775" rtl="0" eaLnBrk="1" latinLnBrk="0" hangingPunct="1">
        <a:lnSpc>
          <a:spcPct val="90000"/>
        </a:lnSpc>
        <a:spcBef>
          <a:spcPts val="475"/>
        </a:spcBef>
        <a:buFont typeface="Arial" panose="020B0604020202020204" pitchFamily="34" charset="0"/>
        <a:buChar char="•"/>
        <a:defRPr sz="1705" kern="1200">
          <a:solidFill>
            <a:schemeClr val="tx1"/>
          </a:solidFill>
          <a:latin typeface="+mn-lt"/>
          <a:ea typeface="+mn-ea"/>
          <a:cs typeface="+mn-cs"/>
        </a:defRPr>
      </a:lvl9pPr>
    </p:bodyStyle>
    <p:otherStyle>
      <a:defPPr>
        <a:defRPr lang="zh-CN"/>
      </a:defPPr>
      <a:lvl1pPr marL="0" algn="l" defTabSz="866775" rtl="0" eaLnBrk="1" latinLnBrk="0" hangingPunct="1">
        <a:defRPr sz="1705" kern="1200">
          <a:solidFill>
            <a:schemeClr val="tx1"/>
          </a:solidFill>
          <a:latin typeface="+mn-lt"/>
          <a:ea typeface="+mn-ea"/>
          <a:cs typeface="+mn-cs"/>
        </a:defRPr>
      </a:lvl1pPr>
      <a:lvl2pPr marL="433705" algn="l" defTabSz="866775" rtl="0" eaLnBrk="1" latinLnBrk="0" hangingPunct="1">
        <a:defRPr sz="1705" kern="1200">
          <a:solidFill>
            <a:schemeClr val="tx1"/>
          </a:solidFill>
          <a:latin typeface="+mn-lt"/>
          <a:ea typeface="+mn-ea"/>
          <a:cs typeface="+mn-cs"/>
        </a:defRPr>
      </a:lvl2pPr>
      <a:lvl3pPr marL="866775" algn="l" defTabSz="866775" rtl="0" eaLnBrk="1" latinLnBrk="0" hangingPunct="1">
        <a:defRPr sz="1705" kern="1200">
          <a:solidFill>
            <a:schemeClr val="tx1"/>
          </a:solidFill>
          <a:latin typeface="+mn-lt"/>
          <a:ea typeface="+mn-ea"/>
          <a:cs typeface="+mn-cs"/>
        </a:defRPr>
      </a:lvl3pPr>
      <a:lvl4pPr marL="1300480" algn="l" defTabSz="866775" rtl="0" eaLnBrk="1" latinLnBrk="0" hangingPunct="1">
        <a:defRPr sz="1705" kern="1200">
          <a:solidFill>
            <a:schemeClr val="tx1"/>
          </a:solidFill>
          <a:latin typeface="+mn-lt"/>
          <a:ea typeface="+mn-ea"/>
          <a:cs typeface="+mn-cs"/>
        </a:defRPr>
      </a:lvl4pPr>
      <a:lvl5pPr marL="1734185" algn="l" defTabSz="866775" rtl="0" eaLnBrk="1" latinLnBrk="0" hangingPunct="1">
        <a:defRPr sz="1705" kern="1200">
          <a:solidFill>
            <a:schemeClr val="tx1"/>
          </a:solidFill>
          <a:latin typeface="+mn-lt"/>
          <a:ea typeface="+mn-ea"/>
          <a:cs typeface="+mn-cs"/>
        </a:defRPr>
      </a:lvl5pPr>
      <a:lvl6pPr marL="2167255" algn="l" defTabSz="866775" rtl="0" eaLnBrk="1" latinLnBrk="0" hangingPunct="1">
        <a:defRPr sz="1705" kern="1200">
          <a:solidFill>
            <a:schemeClr val="tx1"/>
          </a:solidFill>
          <a:latin typeface="+mn-lt"/>
          <a:ea typeface="+mn-ea"/>
          <a:cs typeface="+mn-cs"/>
        </a:defRPr>
      </a:lvl6pPr>
      <a:lvl7pPr marL="2600960" algn="l" defTabSz="866775" rtl="0" eaLnBrk="1" latinLnBrk="0" hangingPunct="1">
        <a:defRPr sz="1705" kern="1200">
          <a:solidFill>
            <a:schemeClr val="tx1"/>
          </a:solidFill>
          <a:latin typeface="+mn-lt"/>
          <a:ea typeface="+mn-ea"/>
          <a:cs typeface="+mn-cs"/>
        </a:defRPr>
      </a:lvl7pPr>
      <a:lvl8pPr marL="3034030" algn="l" defTabSz="866775" rtl="0" eaLnBrk="1" latinLnBrk="0" hangingPunct="1">
        <a:defRPr sz="1705" kern="1200">
          <a:solidFill>
            <a:schemeClr val="tx1"/>
          </a:solidFill>
          <a:latin typeface="+mn-lt"/>
          <a:ea typeface="+mn-ea"/>
          <a:cs typeface="+mn-cs"/>
        </a:defRPr>
      </a:lvl8pPr>
      <a:lvl9pPr marL="3467735" algn="l" defTabSz="866775" rtl="0" eaLnBrk="1" latinLnBrk="0" hangingPunct="1">
        <a:defRPr sz="17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hemeOverride" Target="../theme/themeOverride1.xml"/><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2.xml"/><Relationship Id="rId3" Type="http://schemas.openxmlformats.org/officeDocument/2006/relationships/tags" Target="../tags/tag1.xml"/><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tags" Target="../tags/tag2.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2.xml"/><Relationship Id="rId2" Type="http://schemas.openxmlformats.org/officeDocument/2006/relationships/tags" Target="../tags/tag3.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ags" Target="../tags/tag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
          <p:cNvPicPr>
            <a:picLocks noChangeAspect="1"/>
          </p:cNvPicPr>
          <p:nvPr/>
        </p:nvPicPr>
        <p:blipFill>
          <a:blip r:embed="rId1"/>
          <a:srcRect t="32230"/>
          <a:stretch>
            <a:fillRect/>
          </a:stretch>
        </p:blipFill>
        <p:spPr>
          <a:xfrm>
            <a:off x="0" y="2244725"/>
            <a:ext cx="12192000" cy="4641850"/>
          </a:xfrm>
          <a:prstGeom prst="rect">
            <a:avLst/>
          </a:prstGeom>
          <a:noFill/>
          <a:ln w="9525">
            <a:noFill/>
          </a:ln>
        </p:spPr>
      </p:pic>
      <p:pic>
        <p:nvPicPr>
          <p:cNvPr id="3075" name="图片 3"/>
          <p:cNvPicPr>
            <a:picLocks noChangeAspect="1"/>
          </p:cNvPicPr>
          <p:nvPr/>
        </p:nvPicPr>
        <p:blipFill>
          <a:blip r:embed="rId2"/>
          <a:stretch>
            <a:fillRect/>
          </a:stretch>
        </p:blipFill>
        <p:spPr>
          <a:xfrm>
            <a:off x="247650" y="282575"/>
            <a:ext cx="2312988" cy="387350"/>
          </a:xfrm>
          <a:prstGeom prst="rect">
            <a:avLst/>
          </a:prstGeom>
          <a:noFill/>
          <a:ln w="9525">
            <a:noFill/>
          </a:ln>
        </p:spPr>
      </p:pic>
      <p:sp>
        <p:nvSpPr>
          <p:cNvPr id="3076" name="文本框 8"/>
          <p:cNvSpPr txBox="1"/>
          <p:nvPr/>
        </p:nvSpPr>
        <p:spPr>
          <a:xfrm>
            <a:off x="3709194" y="955437"/>
            <a:ext cx="4773930" cy="1014730"/>
          </a:xfrm>
          <a:prstGeom prst="rect">
            <a:avLst/>
          </a:prstGeom>
          <a:noFill/>
          <a:ln w="9525">
            <a:noFill/>
          </a:ln>
        </p:spPr>
        <p:txBody>
          <a:bodyPr wrap="none">
            <a:spAutoFit/>
          </a:bodyPr>
          <a:lstStyle/>
          <a:p>
            <a:pPr eaLnBrk="1" hangingPunct="1">
              <a:buNone/>
            </a:pPr>
            <a:r>
              <a:rPr lang="zh-CN" altLang="en-US" sz="6000" b="1" dirty="0">
                <a:solidFill>
                  <a:srgbClr val="0028AA"/>
                </a:solidFill>
                <a:latin typeface="汉仪雅酷黑 75W"/>
                <a:ea typeface="汉仪中黑 197" panose="00020600040101010101" pitchFamily="18" charset="-122"/>
              </a:rPr>
              <a:t>转正述职</a:t>
            </a:r>
            <a:r>
              <a:rPr lang="zh-CN" altLang="en-US" sz="6000" b="1" dirty="0">
                <a:solidFill>
                  <a:srgbClr val="0028AA"/>
                </a:solidFill>
                <a:latin typeface="汉仪雅酷黑 75W"/>
                <a:ea typeface="汉仪中黑 197" panose="00020600040101010101" pitchFamily="18" charset="-122"/>
              </a:rPr>
              <a:t>汇报</a:t>
            </a:r>
            <a:endParaRPr lang="zh-CN" altLang="en-US" sz="6000" b="1" dirty="0">
              <a:solidFill>
                <a:srgbClr val="0028AA"/>
              </a:solidFill>
              <a:latin typeface="汉仪雅酷黑 75W"/>
              <a:ea typeface="汉仪中黑 197" panose="00020600040101010101" pitchFamily="18" charset="-122"/>
            </a:endParaRPr>
          </a:p>
        </p:txBody>
      </p:sp>
      <p:sp>
        <p:nvSpPr>
          <p:cNvPr id="3078" name="矩形 11"/>
          <p:cNvSpPr/>
          <p:nvPr/>
        </p:nvSpPr>
        <p:spPr>
          <a:xfrm>
            <a:off x="8625839" y="2244805"/>
            <a:ext cx="2888166" cy="1476375"/>
          </a:xfrm>
          <a:prstGeom prst="rect">
            <a:avLst/>
          </a:prstGeom>
          <a:noFill/>
          <a:ln w="9525">
            <a:noFill/>
          </a:ln>
        </p:spPr>
        <p:txBody>
          <a:bodyPr wrap="square">
            <a:spAutoFit/>
          </a:bodyPr>
          <a:lstStyle/>
          <a:p>
            <a:pPr defTabSz="914400" eaLnBrk="1" hangingPunct="1">
              <a:lnSpc>
                <a:spcPct val="150000"/>
              </a:lnSpc>
              <a:buNone/>
            </a:pPr>
            <a:r>
              <a:rPr lang="zh-CN" altLang="en-US" sz="2000" b="1" dirty="0">
                <a:solidFill>
                  <a:srgbClr val="052AB6"/>
                </a:solidFill>
                <a:latin typeface="微软雅黑" panose="020B0503020204020204" pitchFamily="34" charset="-122"/>
                <a:ea typeface="微软雅黑" panose="020B0503020204020204" pitchFamily="34" charset="-122"/>
              </a:rPr>
              <a:t>部门：</a:t>
            </a:r>
            <a:r>
              <a:rPr lang="zh-CN" altLang="en-US" sz="2000" b="1" dirty="0">
                <a:solidFill>
                  <a:srgbClr val="052AB6"/>
                </a:solidFill>
                <a:latin typeface="微软雅黑" panose="020B0503020204020204" pitchFamily="34" charset="-122"/>
                <a:ea typeface="微软雅黑" panose="020B0503020204020204" pitchFamily="34" charset="-122"/>
              </a:rPr>
              <a:t>数字研究院</a:t>
            </a:r>
            <a:endParaRPr lang="zh-CN" altLang="en-US" sz="2000" b="1" dirty="0">
              <a:solidFill>
                <a:srgbClr val="052AB6"/>
              </a:solidFill>
              <a:latin typeface="微软雅黑" panose="020B0503020204020204" pitchFamily="34" charset="-122"/>
              <a:ea typeface="微软雅黑" panose="020B0503020204020204" pitchFamily="34" charset="-122"/>
            </a:endParaRPr>
          </a:p>
          <a:p>
            <a:pPr defTabSz="914400" eaLnBrk="1" hangingPunct="1">
              <a:lnSpc>
                <a:spcPct val="150000"/>
              </a:lnSpc>
              <a:buNone/>
            </a:pPr>
            <a:r>
              <a:rPr lang="zh-CN" altLang="en-US" sz="2000" b="1" dirty="0">
                <a:solidFill>
                  <a:srgbClr val="052AB6"/>
                </a:solidFill>
                <a:latin typeface="微软雅黑" panose="020B0503020204020204" pitchFamily="34" charset="-122"/>
                <a:ea typeface="微软雅黑" panose="020B0503020204020204" pitchFamily="34" charset="-122"/>
              </a:rPr>
              <a:t>姓名：郭快</a:t>
            </a:r>
            <a:endParaRPr lang="en-US" altLang="zh-CN" sz="2000" b="1" dirty="0">
              <a:solidFill>
                <a:srgbClr val="052AB6"/>
              </a:solidFill>
              <a:latin typeface="微软雅黑" panose="020B0503020204020204" pitchFamily="34" charset="-122"/>
              <a:ea typeface="微软雅黑" panose="020B0503020204020204" pitchFamily="34" charset="-122"/>
            </a:endParaRPr>
          </a:p>
          <a:p>
            <a:pPr defTabSz="914400" eaLnBrk="1" hangingPunct="1">
              <a:lnSpc>
                <a:spcPct val="150000"/>
              </a:lnSpc>
              <a:buNone/>
            </a:pPr>
            <a:r>
              <a:rPr lang="en-US" altLang="zh-CN" sz="2000" b="1" dirty="0">
                <a:solidFill>
                  <a:srgbClr val="052AB6"/>
                </a:solidFill>
                <a:latin typeface="微软雅黑" panose="020B0503020204020204" pitchFamily="34" charset="-122"/>
                <a:ea typeface="微软雅黑" panose="020B0503020204020204" pitchFamily="34" charset="-122"/>
              </a:rPr>
              <a:t>2026</a:t>
            </a:r>
            <a:r>
              <a:rPr lang="zh-CN" altLang="en-US" sz="2000" b="1" dirty="0">
                <a:solidFill>
                  <a:srgbClr val="052AB6"/>
                </a:solidFill>
                <a:latin typeface="微软雅黑" panose="020B0503020204020204" pitchFamily="34" charset="-122"/>
                <a:ea typeface="微软雅黑" panose="020B0503020204020204" pitchFamily="34" charset="-122"/>
              </a:rPr>
              <a:t>年</a:t>
            </a:r>
            <a:r>
              <a:rPr lang="en-US" altLang="zh-CN" sz="2000" b="1" dirty="0">
                <a:solidFill>
                  <a:srgbClr val="052AB6"/>
                </a:solidFill>
                <a:latin typeface="微软雅黑" panose="020B0503020204020204" pitchFamily="34" charset="-122"/>
                <a:ea typeface="微软雅黑" panose="020B0503020204020204" pitchFamily="34" charset="-122"/>
              </a:rPr>
              <a:t>7</a:t>
            </a:r>
            <a:r>
              <a:rPr lang="zh-CN" altLang="en-US" sz="2000" b="1" dirty="0">
                <a:solidFill>
                  <a:srgbClr val="052AB6"/>
                </a:solidFill>
                <a:latin typeface="微软雅黑" panose="020B0503020204020204" pitchFamily="34" charset="-122"/>
                <a:ea typeface="微软雅黑" panose="020B0503020204020204" pitchFamily="34" charset="-122"/>
              </a:rPr>
              <a:t>月</a:t>
            </a:r>
            <a:r>
              <a:rPr lang="en-US" altLang="zh-CN" sz="2000" b="1" dirty="0">
                <a:solidFill>
                  <a:srgbClr val="052AB6"/>
                </a:solidFill>
                <a:latin typeface="微软雅黑" panose="020B0503020204020204" pitchFamily="34" charset="-122"/>
                <a:ea typeface="微软雅黑" panose="020B0503020204020204" pitchFamily="34" charset="-122"/>
              </a:rPr>
              <a:t>7</a:t>
            </a:r>
            <a:r>
              <a:rPr lang="zh-CN" altLang="en-US" sz="2000" b="1" dirty="0">
                <a:solidFill>
                  <a:srgbClr val="052AB6"/>
                </a:solidFill>
                <a:latin typeface="微软雅黑" panose="020B0503020204020204" pitchFamily="34" charset="-122"/>
                <a:ea typeface="微软雅黑" panose="020B0503020204020204" pitchFamily="34" charset="-122"/>
              </a:rPr>
              <a:t>日</a:t>
            </a:r>
            <a:endParaRPr lang="zh-CN" altLang="en-US" sz="2000" b="1" dirty="0">
              <a:solidFill>
                <a:srgbClr val="052AB6"/>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cstate="print">
            <a:extLst>
              <a:ext uri="{28A0092B-C50C-407E-A947-70E740481C1C}">
                <a14:useLocalDpi xmlns:a14="http://schemas.microsoft.com/office/drawing/2010/main" val="0"/>
              </a:ext>
            </a:extLst>
          </a:blip>
          <a:srcRect t="25248" b="13966"/>
          <a:stretch>
            <a:fillRect/>
          </a:stretch>
        </p:blipFill>
        <p:spPr>
          <a:xfrm>
            <a:off x="0" y="1270"/>
            <a:ext cx="12192000" cy="4164965"/>
          </a:xfrm>
          <a:prstGeom prst="rect">
            <a:avLst/>
          </a:prstGeom>
        </p:spPr>
      </p:pic>
      <p:sp>
        <p:nvSpPr>
          <p:cNvPr id="3" name="矩形 2"/>
          <p:cNvSpPr/>
          <p:nvPr/>
        </p:nvSpPr>
        <p:spPr>
          <a:xfrm>
            <a:off x="0" y="3421698"/>
            <a:ext cx="12192000" cy="3429000"/>
          </a:xfrm>
          <a:prstGeom prst="rect">
            <a:avLst/>
          </a:prstGeom>
          <a:solidFill>
            <a:schemeClr val="bg1">
              <a:lumMod val="95000"/>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 name="文本框 1"/>
          <p:cNvSpPr txBox="1"/>
          <p:nvPr/>
        </p:nvSpPr>
        <p:spPr>
          <a:xfrm>
            <a:off x="4393844" y="3918134"/>
            <a:ext cx="7343480" cy="2656205"/>
          </a:xfrm>
          <a:prstGeom prst="rect">
            <a:avLst/>
          </a:prstGeom>
          <a:noFill/>
        </p:spPr>
        <p:txBody>
          <a:bodyPr wrap="square" rtlCol="0">
            <a:spAutoFit/>
          </a:bodyPr>
          <a:lstStyle/>
          <a:p>
            <a:pPr marL="0" marR="0" lvl="0" indent="0" algn="l" defTabSz="914400" rtl="0" eaLnBrk="1" fontAlgn="auto" latinLnBrk="0" hangingPunct="1">
              <a:lnSpc>
                <a:spcPts val="5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020F3C"/>
                </a:solidFill>
                <a:effectLst/>
                <a:uLnTx/>
                <a:uFillTx/>
                <a:latin typeface="微软雅黑" panose="020B0503020204020204" pitchFamily="34" charset="-122"/>
                <a:ea typeface="微软雅黑" panose="020B0503020204020204" pitchFamily="34" charset="-122"/>
              </a:rPr>
              <a:t>一、试用期工作成果</a:t>
            </a:r>
            <a:endParaRPr kumimoji="0" lang="en-US" altLang="zh-CN" sz="2800" b="1" i="0" u="none" strike="noStrike" kern="1200" cap="none" spc="0" normalizeH="0" baseline="0" noProof="0" dirty="0">
              <a:ln>
                <a:noFill/>
              </a:ln>
              <a:solidFill>
                <a:srgbClr val="020F3C"/>
              </a:solidFill>
              <a:effectLst/>
              <a:uLnTx/>
              <a:uFillTx/>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ts val="5000"/>
              </a:lnSpc>
              <a:spcBef>
                <a:spcPts val="0"/>
              </a:spcBef>
              <a:spcAft>
                <a:spcPts val="0"/>
              </a:spcAft>
              <a:buClrTx/>
              <a:buSzTx/>
              <a:buFontTx/>
              <a:buNone/>
              <a:defRPr/>
            </a:pPr>
            <a:r>
              <a:rPr lang="zh-CN" altLang="en-US" sz="2800" b="1" dirty="0">
                <a:solidFill>
                  <a:srgbClr val="020F3C"/>
                </a:solidFill>
                <a:latin typeface="微软雅黑" panose="020B0503020204020204" pitchFamily="34" charset="-122"/>
                <a:ea typeface="微软雅黑" panose="020B0503020204020204" pitchFamily="34" charset="-122"/>
              </a:rPr>
              <a:t>二、存在的问题和不足</a:t>
            </a:r>
            <a:endParaRPr lang="en-US" altLang="zh-CN" sz="2800" b="1" dirty="0">
              <a:solidFill>
                <a:srgbClr val="020F3C"/>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ts val="5000"/>
              </a:lnSpc>
              <a:spcBef>
                <a:spcPts val="0"/>
              </a:spcBef>
              <a:spcAft>
                <a:spcPts val="0"/>
              </a:spcAft>
              <a:buClrTx/>
              <a:buSzTx/>
              <a:buFontTx/>
              <a:buNone/>
              <a:defRPr/>
            </a:pPr>
            <a:r>
              <a:rPr lang="zh-CN" altLang="en-US" sz="2800" b="1" dirty="0">
                <a:solidFill>
                  <a:srgbClr val="020F3C"/>
                </a:solidFill>
                <a:latin typeface="微软雅黑" panose="020B0503020204020204" pitchFamily="34" charset="-122"/>
                <a:ea typeface="微软雅黑" panose="020B0503020204020204" pitchFamily="34" charset="-122"/>
                <a:sym typeface="+mn-ea"/>
              </a:rPr>
              <a:t>三、下一阶段工作计划</a:t>
            </a:r>
            <a:endParaRPr lang="en-US" altLang="zh-CN" sz="2800" b="1" dirty="0">
              <a:solidFill>
                <a:srgbClr val="020F3C"/>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ts val="5000"/>
              </a:lnSpc>
              <a:spcBef>
                <a:spcPts val="0"/>
              </a:spcBef>
              <a:spcAft>
                <a:spcPts val="0"/>
              </a:spcAft>
              <a:buClrTx/>
              <a:buSzTx/>
              <a:buFontTx/>
              <a:buNone/>
              <a:defRPr/>
            </a:pPr>
            <a:r>
              <a:rPr lang="zh-CN" altLang="en-US" sz="2800" b="1" dirty="0">
                <a:solidFill>
                  <a:srgbClr val="020F3C"/>
                </a:solidFill>
                <a:latin typeface="微软雅黑" panose="020B0503020204020204" pitchFamily="34" charset="-122"/>
                <a:ea typeface="微软雅黑" panose="020B0503020204020204" pitchFamily="34" charset="-122"/>
                <a:sym typeface="+mn-ea"/>
              </a:rPr>
              <a:t>四、需要支持事项及对公司的建议</a:t>
            </a:r>
            <a:endParaRPr lang="zh-CN" altLang="en-US" sz="2800" b="1" dirty="0">
              <a:solidFill>
                <a:srgbClr val="020F3C"/>
              </a:solidFill>
              <a:latin typeface="微软雅黑" panose="020B0503020204020204" pitchFamily="34" charset="-122"/>
              <a:ea typeface="微软雅黑" panose="020B0503020204020204" pitchFamily="34" charset="-122"/>
              <a:sym typeface="+mn-ea"/>
            </a:endParaRPr>
          </a:p>
        </p:txBody>
      </p:sp>
      <p:sp>
        <p:nvSpPr>
          <p:cNvPr id="5" name="矩形 4"/>
          <p:cNvSpPr/>
          <p:nvPr/>
        </p:nvSpPr>
        <p:spPr>
          <a:xfrm>
            <a:off x="764613" y="0"/>
            <a:ext cx="2760820" cy="6057781"/>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微软雅黑" panose="020B0503020204020204" pitchFamily="34" charset="-122"/>
              <a:cs typeface="+mn-cs"/>
            </a:endParaRPr>
          </a:p>
        </p:txBody>
      </p:sp>
      <p:grpSp>
        <p:nvGrpSpPr>
          <p:cNvPr id="15" name="组合 14"/>
          <p:cNvGrpSpPr/>
          <p:nvPr/>
        </p:nvGrpSpPr>
        <p:grpSpPr>
          <a:xfrm>
            <a:off x="1102133" y="4023548"/>
            <a:ext cx="1896489" cy="1400357"/>
            <a:chOff x="1102133" y="4023548"/>
            <a:chExt cx="1896489" cy="1400357"/>
          </a:xfrm>
        </p:grpSpPr>
        <p:sp>
          <p:nvSpPr>
            <p:cNvPr id="16" name="文本框 15"/>
            <p:cNvSpPr txBox="1"/>
            <p:nvPr/>
          </p:nvSpPr>
          <p:spPr>
            <a:xfrm>
              <a:off x="1102133" y="4023548"/>
              <a:ext cx="1313180"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目录</a:t>
              </a:r>
              <a:endParaRPr kumimoji="0" lang="zh-CN" altLang="en-US" sz="4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文本框 16"/>
            <p:cNvSpPr txBox="1"/>
            <p:nvPr/>
          </p:nvSpPr>
          <p:spPr>
            <a:xfrm>
              <a:off x="1121185" y="4792989"/>
              <a:ext cx="187743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Arial" panose="020B0604020202020204"/>
                  <a:ea typeface="微软雅黑 Light" panose="020B0502040204020203" pitchFamily="34" charset="-122"/>
                  <a:cs typeface="+mn-cs"/>
                </a:rPr>
                <a:t>CONTENTS</a:t>
              </a:r>
              <a:endParaRPr kumimoji="0" lang="zh-CN" altLang="en-US" sz="2400" b="0" i="0" u="none" strike="noStrike" kern="1200" cap="none" spc="0" normalizeH="0" baseline="0" noProof="0" dirty="0">
                <a:ln>
                  <a:noFill/>
                </a:ln>
                <a:solidFill>
                  <a:prstClr val="white"/>
                </a:solidFill>
                <a:effectLst/>
                <a:uLnTx/>
                <a:uFillTx/>
                <a:latin typeface="Arial" panose="020B0604020202020204"/>
                <a:ea typeface="微软雅黑 Light" panose="020B0502040204020203" pitchFamily="34" charset="-122"/>
                <a:cs typeface="+mn-cs"/>
              </a:endParaRPr>
            </a:p>
          </p:txBody>
        </p:sp>
        <p:cxnSp>
          <p:nvCxnSpPr>
            <p:cNvPr id="18" name="直接连接符 17"/>
            <p:cNvCxnSpPr/>
            <p:nvPr/>
          </p:nvCxnSpPr>
          <p:spPr>
            <a:xfrm>
              <a:off x="1262153" y="5423905"/>
              <a:ext cx="16573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0" advClick="0"/>
    </mc:Choice>
    <mc:Fallback>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75372" y="289586"/>
            <a:ext cx="8980862" cy="521970"/>
          </a:xfrm>
          <a:prstGeom prst="rect">
            <a:avLst/>
          </a:prstGeom>
          <a:noFill/>
        </p:spPr>
        <p:txBody>
          <a:bodyPr wrap="square" rtlCol="0" anchor="t">
            <a:spAutoFit/>
            <a:scene3d>
              <a:camera prst="orthographicFront"/>
              <a:lightRig rig="threePt" dir="t"/>
            </a:scene3d>
          </a:bodyPr>
          <a:lstStyle/>
          <a:p>
            <a:pPr indent="0">
              <a:buFont typeface="Wingdings" panose="05000000000000000000" pitchFamily="2" charset="2"/>
              <a:buNone/>
              <a:defRPr/>
            </a:pPr>
            <a:r>
              <a:rPr kumimoji="0" lang="en-US" altLang="zh-CN" sz="2800" b="1" i="0" kern="1200" cap="none" spc="0" normalizeH="0" baseline="0" dirty="0">
                <a:solidFill>
                  <a:srgbClr val="0028AA"/>
                </a:solidFill>
                <a:latin typeface="微软雅黑" panose="020B0503020204020204" pitchFamily="34" charset="-122"/>
                <a:ea typeface="微软雅黑" panose="020B0503020204020204" pitchFamily="34" charset="-122"/>
                <a:sym typeface="+mn-ea"/>
              </a:rPr>
              <a:t>1</a:t>
            </a:r>
            <a:r>
              <a:rPr kumimoji="0" lang="zh-CN" altLang="en-US" sz="2800" b="1" i="0" kern="1200" cap="none" spc="0" normalizeH="0" baseline="0" dirty="0">
                <a:solidFill>
                  <a:srgbClr val="0028AA"/>
                </a:solidFill>
                <a:latin typeface="微软雅黑" panose="020B0503020204020204" pitchFamily="34" charset="-122"/>
                <a:ea typeface="微软雅黑" panose="020B0503020204020204" pitchFamily="34" charset="-122"/>
                <a:sym typeface="+mn-ea"/>
              </a:rPr>
              <a:t>、试用期工作成果</a:t>
            </a:r>
            <a:endParaRPr kumimoji="0" lang="zh-CN" altLang="en-US" sz="2800" b="1" i="0" kern="1200" cap="none" spc="0" normalizeH="0" baseline="0" dirty="0">
              <a:solidFill>
                <a:srgbClr val="0028AA"/>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605155" y="974725"/>
            <a:ext cx="4064000" cy="368300"/>
          </a:xfrm>
          <a:prstGeom prst="rect">
            <a:avLst/>
          </a:prstGeom>
          <a:noFill/>
        </p:spPr>
        <p:txBody>
          <a:bodyPr wrap="square" rtlCol="0">
            <a:spAutoFit/>
          </a:bodyPr>
          <a:p>
            <a:r>
              <a:rPr lang="zh-CN" altLang="en-US">
                <a:sym typeface="+mn-ea"/>
              </a:rPr>
              <a:t>项目名称：</a:t>
            </a:r>
            <a:r>
              <a:rPr lang="en-US" altLang="zh-CN">
                <a:sym typeface="+mn-ea"/>
              </a:rPr>
              <a:t>EEA</a:t>
            </a:r>
            <a:r>
              <a:rPr lang="zh-CN" altLang="en-US">
                <a:sym typeface="+mn-ea"/>
              </a:rPr>
              <a:t>电子电器协同开发项目</a:t>
            </a:r>
            <a:endParaRPr lang="zh-CN" altLang="en-US"/>
          </a:p>
        </p:txBody>
      </p:sp>
      <p:sp>
        <p:nvSpPr>
          <p:cNvPr id="6" name="文本框 5"/>
          <p:cNvSpPr txBox="1"/>
          <p:nvPr/>
        </p:nvSpPr>
        <p:spPr>
          <a:xfrm>
            <a:off x="760730" y="1473200"/>
            <a:ext cx="7752715" cy="368300"/>
          </a:xfrm>
          <a:prstGeom prst="rect">
            <a:avLst/>
          </a:prstGeom>
          <a:noFill/>
        </p:spPr>
        <p:txBody>
          <a:bodyPr wrap="square" rtlCol="0">
            <a:spAutoFit/>
          </a:bodyPr>
          <a:p>
            <a:r>
              <a:rPr lang="en-US" altLang="zh-CN"/>
              <a:t>1.</a:t>
            </a:r>
            <a:r>
              <a:rPr lang="zh-CN" altLang="en-US"/>
              <a:t>培训</a:t>
            </a:r>
            <a:r>
              <a:rPr lang="en-US" altLang="zh-CN"/>
              <a:t>EEA</a:t>
            </a:r>
            <a:r>
              <a:rPr lang="zh-CN" altLang="en-US"/>
              <a:t>相关软件的使用；</a:t>
            </a:r>
            <a:endParaRPr lang="zh-CN" altLang="en-US"/>
          </a:p>
        </p:txBody>
      </p:sp>
      <p:sp>
        <p:nvSpPr>
          <p:cNvPr id="7" name="文本框 6"/>
          <p:cNvSpPr txBox="1"/>
          <p:nvPr/>
        </p:nvSpPr>
        <p:spPr>
          <a:xfrm>
            <a:off x="760730" y="1841500"/>
            <a:ext cx="7198995" cy="368300"/>
          </a:xfrm>
          <a:prstGeom prst="rect">
            <a:avLst/>
          </a:prstGeom>
          <a:noFill/>
        </p:spPr>
        <p:txBody>
          <a:bodyPr wrap="square" rtlCol="0">
            <a:spAutoFit/>
          </a:bodyPr>
          <a:p>
            <a:r>
              <a:rPr lang="en-US" altLang="zh-CN"/>
              <a:t>2.</a:t>
            </a:r>
            <a:r>
              <a:rPr lang="zh-CN" altLang="en-US"/>
              <a:t>学习</a:t>
            </a:r>
            <a:r>
              <a:rPr lang="en-US" altLang="zh-CN"/>
              <a:t>EEA</a:t>
            </a:r>
            <a:r>
              <a:rPr lang="zh-CN" altLang="en-US"/>
              <a:t>相关的</a:t>
            </a:r>
            <a:r>
              <a:rPr lang="zh-CN" altLang="en-US">
                <a:sym typeface="+mn-ea"/>
              </a:rPr>
              <a:t>二次开发技能，</a:t>
            </a:r>
            <a:r>
              <a:rPr lang="en-US" altLang="zh-CN">
                <a:sym typeface="+mn-ea"/>
              </a:rPr>
              <a:t>XML</a:t>
            </a:r>
            <a:r>
              <a:rPr lang="zh-CN" altLang="en-US">
                <a:sym typeface="+mn-ea"/>
              </a:rPr>
              <a:t>功能开发和</a:t>
            </a:r>
            <a:r>
              <a:rPr lang="en-US" altLang="zh-CN">
                <a:sym typeface="+mn-ea"/>
              </a:rPr>
              <a:t>C#</a:t>
            </a:r>
            <a:r>
              <a:rPr lang="zh-CN" altLang="en-US">
                <a:sym typeface="+mn-ea"/>
              </a:rPr>
              <a:t>二次开发</a:t>
            </a:r>
            <a:r>
              <a:rPr lang="zh-CN" altLang="en-US">
                <a:sym typeface="+mn-ea"/>
              </a:rPr>
              <a:t>插件等；</a:t>
            </a:r>
            <a:endParaRPr lang="zh-CN" altLang="en-US">
              <a:sym typeface="+mn-ea"/>
            </a:endParaRPr>
          </a:p>
        </p:txBody>
      </p:sp>
      <p:sp>
        <p:nvSpPr>
          <p:cNvPr id="8" name="文本框 7"/>
          <p:cNvSpPr txBox="1"/>
          <p:nvPr/>
        </p:nvSpPr>
        <p:spPr>
          <a:xfrm>
            <a:off x="760730" y="2209800"/>
            <a:ext cx="7597775" cy="368300"/>
          </a:xfrm>
          <a:prstGeom prst="rect">
            <a:avLst/>
          </a:prstGeom>
          <a:noFill/>
        </p:spPr>
        <p:txBody>
          <a:bodyPr wrap="square" rtlCol="0">
            <a:spAutoFit/>
          </a:bodyPr>
          <a:p>
            <a:r>
              <a:rPr lang="en-US" altLang="zh-CN"/>
              <a:t>3.</a:t>
            </a:r>
            <a:r>
              <a:rPr lang="zh-CN" altLang="en-US"/>
              <a:t>总结</a:t>
            </a:r>
            <a:r>
              <a:rPr lang="zh-CN" altLang="en-US"/>
              <a:t>并编写</a:t>
            </a:r>
            <a:r>
              <a:rPr lang="en-US" altLang="zh-CN"/>
              <a:t>EEA</a:t>
            </a:r>
            <a:r>
              <a:rPr lang="zh-CN" altLang="en-US"/>
              <a:t>相关文档，如软件的基础使用介绍和二次开发的</a:t>
            </a:r>
            <a:r>
              <a:rPr lang="zh-CN" altLang="en-US"/>
              <a:t>介绍；</a:t>
            </a:r>
            <a:endParaRPr lang="zh-CN" altLang="en-US"/>
          </a:p>
        </p:txBody>
      </p:sp>
      <p:pic>
        <p:nvPicPr>
          <p:cNvPr id="11" name="图片 10"/>
          <p:cNvPicPr>
            <a:picLocks noChangeAspect="1"/>
          </p:cNvPicPr>
          <p:nvPr/>
        </p:nvPicPr>
        <p:blipFill>
          <a:blip r:embed="rId1"/>
          <a:stretch>
            <a:fillRect/>
          </a:stretch>
        </p:blipFill>
        <p:spPr>
          <a:xfrm>
            <a:off x="4897120" y="2628265"/>
            <a:ext cx="7164070" cy="3705225"/>
          </a:xfrm>
          <a:prstGeom prst="rect">
            <a:avLst/>
          </a:prstGeom>
        </p:spPr>
      </p:pic>
      <p:pic>
        <p:nvPicPr>
          <p:cNvPr id="4" name="图片 3"/>
          <p:cNvPicPr>
            <a:picLocks noChangeAspect="1"/>
          </p:cNvPicPr>
          <p:nvPr/>
        </p:nvPicPr>
        <p:blipFill>
          <a:blip r:embed="rId2"/>
          <a:stretch>
            <a:fillRect/>
          </a:stretch>
        </p:blipFill>
        <p:spPr>
          <a:xfrm>
            <a:off x="885190" y="2628265"/>
            <a:ext cx="3974465" cy="3724275"/>
          </a:xfrm>
          <a:prstGeom prst="rect">
            <a:avLst/>
          </a:prstGeom>
        </p:spPr>
      </p:pic>
    </p:spTree>
    <p:custDataLst>
      <p:tags r:id="rId3"/>
    </p:custDataLst>
  </p:cSld>
  <p:clrMapOvr>
    <a:masterClrMapping/>
  </p:clrMapOvr>
  <mc:AlternateContent xmlns:mc="http://schemas.openxmlformats.org/markup-compatibility/2006">
    <mc:Choice xmlns:p14="http://schemas.microsoft.com/office/powerpoint/2010/main" Requires="p14">
      <p:transition p14:dur="0" advClick="0" advTm="3000"/>
    </mc:Choice>
    <mc:Fallback>
      <p:transition advClick="0" advTm="3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75372" y="289586"/>
            <a:ext cx="8980862" cy="521970"/>
          </a:xfrm>
          <a:prstGeom prst="rect">
            <a:avLst/>
          </a:prstGeom>
          <a:noFill/>
        </p:spPr>
        <p:txBody>
          <a:bodyPr wrap="square" rtlCol="0" anchor="t">
            <a:spAutoFit/>
            <a:scene3d>
              <a:camera prst="orthographicFront"/>
              <a:lightRig rig="threePt" dir="t"/>
            </a:scene3d>
          </a:bodyPr>
          <a:lstStyle/>
          <a:p>
            <a:pPr indent="0">
              <a:buFont typeface="Wingdings" panose="05000000000000000000" pitchFamily="2" charset="2"/>
              <a:buNone/>
              <a:defRPr/>
            </a:pPr>
            <a:r>
              <a:rPr kumimoji="0" lang="en-US" altLang="zh-CN" sz="2800" b="1" i="0" kern="1200" cap="none" spc="0" normalizeH="0" baseline="0" dirty="0">
                <a:solidFill>
                  <a:srgbClr val="0028AA"/>
                </a:solidFill>
                <a:latin typeface="微软雅黑" panose="020B0503020204020204" pitchFamily="34" charset="-122"/>
                <a:ea typeface="微软雅黑" panose="020B0503020204020204" pitchFamily="34" charset="-122"/>
                <a:sym typeface="+mn-ea"/>
              </a:rPr>
              <a:t>1</a:t>
            </a:r>
            <a:r>
              <a:rPr kumimoji="0" lang="zh-CN" altLang="en-US" sz="2800" b="1" i="0" kern="1200" cap="none" spc="0" normalizeH="0" baseline="0" dirty="0">
                <a:solidFill>
                  <a:srgbClr val="0028AA"/>
                </a:solidFill>
                <a:latin typeface="微软雅黑" panose="020B0503020204020204" pitchFamily="34" charset="-122"/>
                <a:ea typeface="微软雅黑" panose="020B0503020204020204" pitchFamily="34" charset="-122"/>
                <a:sym typeface="+mn-ea"/>
              </a:rPr>
              <a:t>、试用期工作成果</a:t>
            </a:r>
            <a:endParaRPr kumimoji="0" lang="zh-CN" altLang="en-US" sz="2800" b="1" i="0" kern="1200" cap="none" spc="0" normalizeH="0" baseline="0" dirty="0">
              <a:solidFill>
                <a:srgbClr val="0028AA"/>
              </a:solidFill>
              <a:latin typeface="微软雅黑" panose="020B0503020204020204" pitchFamily="34" charset="-122"/>
              <a:ea typeface="微软雅黑" panose="020B0503020204020204" pitchFamily="34" charset="-122"/>
              <a:sym typeface="+mn-ea"/>
            </a:endParaRPr>
          </a:p>
        </p:txBody>
      </p:sp>
      <p:sp>
        <p:nvSpPr>
          <p:cNvPr id="9" name="文本框 8"/>
          <p:cNvSpPr txBox="1"/>
          <p:nvPr/>
        </p:nvSpPr>
        <p:spPr>
          <a:xfrm>
            <a:off x="594360" y="996315"/>
            <a:ext cx="4064000" cy="368300"/>
          </a:xfrm>
          <a:prstGeom prst="rect">
            <a:avLst/>
          </a:prstGeom>
          <a:noFill/>
        </p:spPr>
        <p:txBody>
          <a:bodyPr wrap="square" rtlCol="0">
            <a:spAutoFit/>
          </a:bodyPr>
          <a:p>
            <a:r>
              <a:rPr lang="zh-CN" altLang="en-US"/>
              <a:t>项目名称：</a:t>
            </a:r>
            <a:r>
              <a:rPr lang="en-US" altLang="zh-CN"/>
              <a:t>EEA</a:t>
            </a:r>
            <a:r>
              <a:rPr lang="zh-CN" altLang="en-US"/>
              <a:t>电子电器协同开发</a:t>
            </a:r>
            <a:r>
              <a:rPr lang="zh-CN" altLang="en-US"/>
              <a:t>项目</a:t>
            </a:r>
            <a:endParaRPr lang="zh-CN" altLang="en-US"/>
          </a:p>
        </p:txBody>
      </p:sp>
      <p:sp>
        <p:nvSpPr>
          <p:cNvPr id="11" name="文本框 10"/>
          <p:cNvSpPr txBox="1"/>
          <p:nvPr/>
        </p:nvSpPr>
        <p:spPr>
          <a:xfrm>
            <a:off x="760730" y="1473200"/>
            <a:ext cx="10488930" cy="368300"/>
          </a:xfrm>
          <a:prstGeom prst="rect">
            <a:avLst/>
          </a:prstGeom>
          <a:noFill/>
        </p:spPr>
        <p:txBody>
          <a:bodyPr wrap="square" rtlCol="0">
            <a:spAutoFit/>
          </a:bodyPr>
          <a:p>
            <a:r>
              <a:rPr lang="zh-CN" altLang="en-US"/>
              <a:t>完成</a:t>
            </a:r>
            <a:r>
              <a:rPr lang="en-US" altLang="zh-CN"/>
              <a:t>EEA</a:t>
            </a:r>
            <a:r>
              <a:rPr lang="zh-CN" altLang="en-US"/>
              <a:t>项目中历史遗留以及最新提出的需求和</a:t>
            </a:r>
            <a:r>
              <a:rPr lang="en-US" altLang="zh-CN"/>
              <a:t>BUG</a:t>
            </a:r>
            <a:r>
              <a:rPr lang="zh-CN" altLang="en-US"/>
              <a:t>，包括配置功能二次开发和</a:t>
            </a:r>
            <a:r>
              <a:rPr lang="en-US" altLang="zh-CN"/>
              <a:t>API</a:t>
            </a:r>
            <a:r>
              <a:rPr lang="zh-CN" altLang="en-US"/>
              <a:t>插件二次开发等</a:t>
            </a:r>
            <a:r>
              <a:rPr lang="en-US" altLang="zh-CN"/>
              <a:t>          </a:t>
            </a:r>
            <a:endParaRPr lang="en-US" altLang="zh-CN"/>
          </a:p>
        </p:txBody>
      </p:sp>
      <p:pic>
        <p:nvPicPr>
          <p:cNvPr id="13" name="图片 12"/>
          <p:cNvPicPr>
            <a:picLocks noChangeAspect="1"/>
          </p:cNvPicPr>
          <p:nvPr/>
        </p:nvPicPr>
        <p:blipFill>
          <a:blip r:embed="rId1"/>
          <a:stretch>
            <a:fillRect/>
          </a:stretch>
        </p:blipFill>
        <p:spPr>
          <a:xfrm>
            <a:off x="475615" y="1950085"/>
            <a:ext cx="11321415" cy="3498850"/>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p14:dur="0" advClick="0" advTm="3000"/>
    </mc:Choice>
    <mc:Fallback>
      <p:transition advClick="0" advTm="3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75372" y="289586"/>
            <a:ext cx="8980862" cy="521970"/>
          </a:xfrm>
          <a:prstGeom prst="rect">
            <a:avLst/>
          </a:prstGeom>
          <a:noFill/>
        </p:spPr>
        <p:txBody>
          <a:bodyPr wrap="square" rtlCol="0" anchor="t">
            <a:spAutoFit/>
            <a:scene3d>
              <a:camera prst="orthographicFront"/>
              <a:lightRig rig="threePt" dir="t"/>
            </a:scene3d>
          </a:bodyPr>
          <a:lstStyle/>
          <a:p>
            <a:pPr indent="0">
              <a:buFont typeface="Wingdings" panose="05000000000000000000" pitchFamily="2" charset="2"/>
              <a:buNone/>
              <a:defRPr/>
            </a:pPr>
            <a:r>
              <a:rPr kumimoji="0" lang="en-US" altLang="zh-CN" sz="2800" b="1" i="0" kern="1200" cap="none" spc="0" normalizeH="0" baseline="0" dirty="0">
                <a:solidFill>
                  <a:srgbClr val="0028AA"/>
                </a:solidFill>
                <a:latin typeface="微软雅黑" panose="020B0503020204020204" pitchFamily="34" charset="-122"/>
                <a:ea typeface="微软雅黑" panose="020B0503020204020204" pitchFamily="34" charset="-122"/>
                <a:sym typeface="+mn-ea"/>
              </a:rPr>
              <a:t>1</a:t>
            </a:r>
            <a:r>
              <a:rPr kumimoji="0" lang="zh-CN" altLang="en-US" sz="2800" b="1" i="0" kern="1200" cap="none" spc="0" normalizeH="0" baseline="0" dirty="0">
                <a:solidFill>
                  <a:srgbClr val="0028AA"/>
                </a:solidFill>
                <a:latin typeface="微软雅黑" panose="020B0503020204020204" pitchFamily="34" charset="-122"/>
                <a:ea typeface="微软雅黑" panose="020B0503020204020204" pitchFamily="34" charset="-122"/>
                <a:sym typeface="+mn-ea"/>
              </a:rPr>
              <a:t>、试用期工作成果</a:t>
            </a:r>
            <a:endParaRPr kumimoji="0" lang="zh-CN" altLang="en-US" sz="2800" b="1" i="0" kern="1200" cap="none" spc="0" normalizeH="0" baseline="0" dirty="0">
              <a:solidFill>
                <a:srgbClr val="0028AA"/>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627380" y="937260"/>
            <a:ext cx="4064000" cy="368300"/>
          </a:xfrm>
          <a:prstGeom prst="rect">
            <a:avLst/>
          </a:prstGeom>
          <a:noFill/>
        </p:spPr>
        <p:txBody>
          <a:bodyPr wrap="square" rtlCol="0">
            <a:spAutoFit/>
          </a:bodyPr>
          <a:p>
            <a:r>
              <a:rPr lang="zh-CN" altLang="en-US">
                <a:sym typeface="+mn-ea"/>
              </a:rPr>
              <a:t>项目名称：</a:t>
            </a:r>
            <a:r>
              <a:rPr lang="en-US" altLang="zh-CN">
                <a:sym typeface="+mn-ea"/>
              </a:rPr>
              <a:t>BI</a:t>
            </a:r>
            <a:r>
              <a:rPr lang="zh-CN" altLang="en-US">
                <a:sym typeface="+mn-ea"/>
              </a:rPr>
              <a:t>报表开发项目</a:t>
            </a:r>
            <a:endParaRPr lang="zh-CN" altLang="en-US"/>
          </a:p>
        </p:txBody>
      </p:sp>
      <p:sp>
        <p:nvSpPr>
          <p:cNvPr id="9" name="文本框 8"/>
          <p:cNvSpPr txBox="1"/>
          <p:nvPr/>
        </p:nvSpPr>
        <p:spPr>
          <a:xfrm>
            <a:off x="871855" y="1305560"/>
            <a:ext cx="10412730" cy="922020"/>
          </a:xfrm>
          <a:prstGeom prst="rect">
            <a:avLst/>
          </a:prstGeom>
          <a:noFill/>
        </p:spPr>
        <p:txBody>
          <a:bodyPr wrap="square" rtlCol="0">
            <a:spAutoFit/>
          </a:bodyPr>
          <a:p>
            <a:r>
              <a:rPr lang="zh-CN" altLang="en-US"/>
              <a:t>测试环境上熟悉报表</a:t>
            </a:r>
            <a:r>
              <a:rPr lang="zh-CN" altLang="en-US"/>
              <a:t>整套流程，包括配置定义，表格定义，</a:t>
            </a:r>
            <a:r>
              <a:rPr lang="en-US" altLang="zh-CN"/>
              <a:t>SQL</a:t>
            </a:r>
            <a:r>
              <a:rPr lang="zh-CN" altLang="en-US"/>
              <a:t>定义，</a:t>
            </a:r>
            <a:r>
              <a:rPr lang="en-US" altLang="zh-CN"/>
              <a:t>JS</a:t>
            </a:r>
            <a:r>
              <a:rPr lang="zh-CN" altLang="en-US"/>
              <a:t>处理</a:t>
            </a:r>
            <a:r>
              <a:rPr lang="zh-CN" altLang="en-US"/>
              <a:t>等，</a:t>
            </a:r>
            <a:endParaRPr lang="zh-CN" altLang="en-US"/>
          </a:p>
          <a:p>
            <a:r>
              <a:rPr lang="zh-CN" altLang="en-US"/>
              <a:t>再将需要处理的数据利用</a:t>
            </a:r>
            <a:r>
              <a:rPr lang="en-US" altLang="zh-CN"/>
              <a:t>OKR</a:t>
            </a:r>
            <a:r>
              <a:rPr lang="zh-CN" altLang="en-US"/>
              <a:t>系统设置好任务后通过</a:t>
            </a:r>
            <a:r>
              <a:rPr lang="en-US" altLang="zh-CN"/>
              <a:t>BI</a:t>
            </a:r>
            <a:r>
              <a:rPr lang="zh-CN" altLang="en-US"/>
              <a:t>任务调度中心定时调用任务去同步</a:t>
            </a:r>
            <a:r>
              <a:rPr lang="zh-CN" altLang="en-US"/>
              <a:t>数据，</a:t>
            </a:r>
            <a:endParaRPr lang="zh-CN" altLang="en-US"/>
          </a:p>
          <a:p>
            <a:r>
              <a:rPr lang="zh-CN" altLang="en-US"/>
              <a:t>跟踪切换系统后正式环境上的集团出勤统计报表</a:t>
            </a:r>
            <a:r>
              <a:rPr lang="zh-CN" altLang="en-US"/>
              <a:t>中出勤人数不正确的</a:t>
            </a:r>
            <a:r>
              <a:rPr lang="zh-CN" altLang="en-US"/>
              <a:t>问题。</a:t>
            </a:r>
            <a:endParaRPr lang="zh-CN" altLang="en-US"/>
          </a:p>
        </p:txBody>
      </p:sp>
      <p:pic>
        <p:nvPicPr>
          <p:cNvPr id="4" name="图片 3"/>
          <p:cNvPicPr>
            <a:picLocks noChangeAspect="1"/>
          </p:cNvPicPr>
          <p:nvPr/>
        </p:nvPicPr>
        <p:blipFill>
          <a:blip r:embed="rId1"/>
          <a:stretch>
            <a:fillRect/>
          </a:stretch>
        </p:blipFill>
        <p:spPr>
          <a:xfrm>
            <a:off x="956945" y="2227580"/>
            <a:ext cx="7370445" cy="4197350"/>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p14:dur="0" advClick="0" advTm="3000"/>
    </mc:Choice>
    <mc:Fallback>
      <p:transition advClick="0" advTm="3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75372" y="289586"/>
            <a:ext cx="8980862" cy="521970"/>
          </a:xfrm>
          <a:prstGeom prst="rect">
            <a:avLst/>
          </a:prstGeom>
          <a:noFill/>
        </p:spPr>
        <p:txBody>
          <a:bodyPr wrap="square" rtlCol="0" anchor="t">
            <a:spAutoFit/>
            <a:scene3d>
              <a:camera prst="orthographicFront"/>
              <a:lightRig rig="threePt" dir="t"/>
            </a:scene3d>
          </a:bodyPr>
          <a:lstStyle/>
          <a:p>
            <a:pPr indent="0">
              <a:buFont typeface="Wingdings" panose="05000000000000000000" pitchFamily="2" charset="2"/>
              <a:buNone/>
              <a:defRPr/>
            </a:pPr>
            <a:r>
              <a:rPr kumimoji="0" lang="en-US" altLang="zh-CN" sz="2800" b="1" i="0" kern="1200" cap="none" spc="0" normalizeH="0" baseline="0" dirty="0">
                <a:solidFill>
                  <a:srgbClr val="0028AA"/>
                </a:solidFill>
                <a:latin typeface="微软雅黑" panose="020B0503020204020204" pitchFamily="34" charset="-122"/>
                <a:ea typeface="微软雅黑" panose="020B0503020204020204" pitchFamily="34" charset="-122"/>
                <a:sym typeface="+mn-ea"/>
              </a:rPr>
              <a:t>2</a:t>
            </a:r>
            <a:r>
              <a:rPr kumimoji="0" lang="zh-CN" altLang="en-US" sz="2800" b="1" i="0" kern="1200" cap="none" spc="0" normalizeH="0" baseline="0" dirty="0">
                <a:solidFill>
                  <a:srgbClr val="0028AA"/>
                </a:solidFill>
                <a:latin typeface="微软雅黑" panose="020B0503020204020204" pitchFamily="34" charset="-122"/>
                <a:ea typeface="微软雅黑" panose="020B0503020204020204" pitchFamily="34" charset="-122"/>
                <a:sym typeface="+mn-ea"/>
              </a:rPr>
              <a:t>、存在的问题和</a:t>
            </a:r>
            <a:r>
              <a:rPr kumimoji="0" lang="zh-CN" altLang="en-US" sz="2800" b="1" i="0" kern="1200" cap="none" spc="0" normalizeH="0" baseline="0" dirty="0">
                <a:solidFill>
                  <a:srgbClr val="0028AA"/>
                </a:solidFill>
                <a:latin typeface="微软雅黑" panose="020B0503020204020204" pitchFamily="34" charset="-122"/>
                <a:ea typeface="微软雅黑" panose="020B0503020204020204" pitchFamily="34" charset="-122"/>
                <a:sym typeface="+mn-ea"/>
              </a:rPr>
              <a:t>不足</a:t>
            </a:r>
            <a:endParaRPr kumimoji="0" lang="zh-CN" altLang="en-US" sz="2800" b="1" i="0" kern="1200" cap="none" spc="0" normalizeH="0" baseline="0" dirty="0">
              <a:solidFill>
                <a:srgbClr val="0028AA"/>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716915" y="1319530"/>
            <a:ext cx="9687560" cy="3415030"/>
          </a:xfrm>
          <a:prstGeom prst="rect">
            <a:avLst/>
          </a:prstGeom>
          <a:noFill/>
        </p:spPr>
        <p:txBody>
          <a:bodyPr wrap="square" rtlCol="0">
            <a:spAutoFit/>
          </a:bodyPr>
          <a:p>
            <a:r>
              <a:rPr lang="en-US" altLang="zh-CN"/>
              <a:t>1.</a:t>
            </a:r>
            <a:r>
              <a:rPr lang="zh-CN" altLang="en-US"/>
              <a:t>业务理解深度仍需加强</a:t>
            </a:r>
            <a:endParaRPr lang="zh-CN" altLang="en-US"/>
          </a:p>
          <a:p>
            <a:pPr indent="457200"/>
            <a:r>
              <a:rPr lang="zh-CN" altLang="en-US"/>
              <a:t>在</a:t>
            </a:r>
            <a:r>
              <a:rPr lang="en-US" altLang="zh-CN"/>
              <a:t>EEA</a:t>
            </a:r>
            <a:r>
              <a:rPr lang="zh-CN" altLang="en-US"/>
              <a:t>及</a:t>
            </a:r>
            <a:r>
              <a:rPr lang="en-US" altLang="zh-CN"/>
              <a:t>BI</a:t>
            </a:r>
            <a:r>
              <a:rPr lang="zh-CN" altLang="en-US"/>
              <a:t>相关项目中，虽然能够完成既定开发任务，但对部分业务规则（如流程变更、信号处理逻辑、配置字关联关系等）的理解仍停留在实现层面，对业务全链路影响分析不够深入，在需求边界识别上仍有提升空间。</a:t>
            </a:r>
            <a:endParaRPr lang="zh-CN" altLang="en-US"/>
          </a:p>
          <a:p>
            <a:endParaRPr lang="zh-CN" altLang="en-US"/>
          </a:p>
          <a:p>
            <a:r>
              <a:rPr lang="en-US" altLang="zh-CN"/>
              <a:t>2.</a:t>
            </a:r>
            <a:r>
              <a:rPr lang="zh-CN" altLang="en-US"/>
              <a:t>复杂需求拆解与设计能力有待提升</a:t>
            </a:r>
            <a:endParaRPr lang="zh-CN" altLang="en-US"/>
          </a:p>
          <a:p>
            <a:pPr indent="457200"/>
            <a:r>
              <a:rPr lang="zh-CN" altLang="en-US"/>
              <a:t>面对跨模块或涉及多系统交互的需求时，需求拆解粒度与整体设计能力仍需加强，部分情况下依赖已有方案或参考实现，自主设计能力在后续工作</a:t>
            </a:r>
            <a:r>
              <a:rPr lang="zh-CN" altLang="en-US"/>
              <a:t>中还可以继续</a:t>
            </a:r>
            <a:r>
              <a:rPr lang="zh-CN" altLang="en-US"/>
              <a:t>提升。</a:t>
            </a:r>
            <a:endParaRPr lang="zh-CN" altLang="en-US"/>
          </a:p>
          <a:p>
            <a:endParaRPr lang="zh-CN" altLang="en-US"/>
          </a:p>
          <a:p>
            <a:r>
              <a:rPr lang="en-US" altLang="zh-CN"/>
              <a:t>3.</a:t>
            </a:r>
            <a:r>
              <a:rPr lang="zh-CN" altLang="en-US"/>
              <a:t>工程化与规范化意识需进一步强化</a:t>
            </a:r>
            <a:endParaRPr lang="zh-CN" altLang="en-US"/>
          </a:p>
          <a:p>
            <a:pPr indent="457200"/>
            <a:r>
              <a:rPr lang="zh-CN" altLang="en-US"/>
              <a:t>在部分开发过程中，对代码复用性、配置标准化以及异常场景覆盖考虑并不</a:t>
            </a:r>
            <a:r>
              <a:rPr lang="zh-CN" altLang="en-US"/>
              <a:t>完全充分，后续需要在设计阶段进一步强化质量前置意识。</a:t>
            </a:r>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advClick="0" advTm="3000"/>
    </mc:Choice>
    <mc:Fallback>
      <p:transition advClick="0" advTm="3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75372" y="289586"/>
            <a:ext cx="8980862" cy="521970"/>
          </a:xfrm>
          <a:prstGeom prst="rect">
            <a:avLst/>
          </a:prstGeom>
          <a:noFill/>
        </p:spPr>
        <p:txBody>
          <a:bodyPr wrap="square" rtlCol="0" anchor="t">
            <a:spAutoFit/>
            <a:scene3d>
              <a:camera prst="orthographicFront"/>
              <a:lightRig rig="threePt" dir="t"/>
            </a:scene3d>
          </a:bodyPr>
          <a:lstStyle/>
          <a:p>
            <a:pPr indent="0">
              <a:buFont typeface="Wingdings" panose="05000000000000000000" pitchFamily="2" charset="2"/>
              <a:buNone/>
              <a:defRPr/>
            </a:pPr>
            <a:r>
              <a:rPr kumimoji="0" lang="en-US" altLang="zh-CN" sz="2800" b="1" i="0" kern="1200" cap="none" spc="0" normalizeH="0" baseline="0" dirty="0">
                <a:solidFill>
                  <a:srgbClr val="0028AA"/>
                </a:solidFill>
                <a:latin typeface="微软雅黑" panose="020B0503020204020204" pitchFamily="34" charset="-122"/>
                <a:ea typeface="微软雅黑" panose="020B0503020204020204" pitchFamily="34" charset="-122"/>
                <a:sym typeface="+mn-ea"/>
              </a:rPr>
              <a:t>3</a:t>
            </a:r>
            <a:r>
              <a:rPr kumimoji="0" lang="zh-CN" altLang="en-US" sz="2800" b="1" i="0" kern="1200" cap="none" spc="0" normalizeH="0" baseline="0" dirty="0">
                <a:solidFill>
                  <a:srgbClr val="0028AA"/>
                </a:solidFill>
                <a:latin typeface="微软雅黑" panose="020B0503020204020204" pitchFamily="34" charset="-122"/>
                <a:ea typeface="微软雅黑" panose="020B0503020204020204" pitchFamily="34" charset="-122"/>
                <a:sym typeface="+mn-ea"/>
              </a:rPr>
              <a:t>、下一阶段工作</a:t>
            </a:r>
            <a:r>
              <a:rPr kumimoji="0" lang="zh-CN" altLang="en-US" sz="2800" b="1" i="0" kern="1200" cap="none" spc="0" normalizeH="0" baseline="0" dirty="0">
                <a:solidFill>
                  <a:srgbClr val="0028AA"/>
                </a:solidFill>
                <a:latin typeface="微软雅黑" panose="020B0503020204020204" pitchFamily="34" charset="-122"/>
                <a:ea typeface="微软雅黑" panose="020B0503020204020204" pitchFamily="34" charset="-122"/>
                <a:sym typeface="+mn-ea"/>
              </a:rPr>
              <a:t>计划</a:t>
            </a:r>
            <a:endParaRPr kumimoji="0" lang="zh-CN" altLang="en-US" sz="2800" b="1" i="0" kern="1200" cap="none" spc="0" normalizeH="0" baseline="0" dirty="0">
              <a:solidFill>
                <a:srgbClr val="0028AA"/>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728345" y="1161415"/>
            <a:ext cx="10151110" cy="2536190"/>
          </a:xfrm>
          <a:prstGeom prst="rect">
            <a:avLst/>
          </a:prstGeom>
          <a:noFill/>
        </p:spPr>
        <p:txBody>
          <a:bodyPr wrap="square" rtlCol="0">
            <a:noAutofit/>
          </a:bodyPr>
          <a:p>
            <a:r>
              <a:rPr lang="zh-CN" altLang="en-US"/>
              <a:t>一、持续推进</a:t>
            </a:r>
            <a:r>
              <a:rPr lang="en-US" altLang="zh-CN"/>
              <a:t>EEA</a:t>
            </a:r>
            <a:r>
              <a:rPr lang="zh-CN" altLang="en-US"/>
              <a:t>项目遗留需求闭环交付</a:t>
            </a:r>
            <a:endParaRPr lang="zh-CN" altLang="en-US"/>
          </a:p>
          <a:p>
            <a:pPr indent="457200"/>
            <a:r>
              <a:rPr lang="zh-CN" altLang="en-US"/>
              <a:t>围绕当前</a:t>
            </a:r>
            <a:r>
              <a:rPr lang="en-US" altLang="zh-CN"/>
              <a:t>EEA</a:t>
            </a:r>
            <a:r>
              <a:rPr lang="zh-CN" altLang="en-US"/>
              <a:t>项目中未完成的四项需求，持续推动需求分析、技术方案确认及开发落地，</a:t>
            </a:r>
            <a:endParaRPr lang="zh-CN" altLang="en-US"/>
          </a:p>
          <a:p>
            <a:r>
              <a:rPr lang="zh-CN" altLang="en-US"/>
              <a:t>同时加强与供应商的协同沟通，推动问题快速闭环，降低需求反复成本。</a:t>
            </a:r>
            <a:endParaRPr lang="zh-CN" altLang="en-US"/>
          </a:p>
          <a:p>
            <a:r>
              <a:rPr lang="en-US" altLang="zh-CN">
                <a:sym typeface="+mn-ea"/>
              </a:rPr>
              <a:t>         </a:t>
            </a:r>
            <a:r>
              <a:rPr lang="zh-CN" altLang="en-US">
                <a:sym typeface="+mn-ea"/>
              </a:rPr>
              <a:t>还未完成的需求如下：</a:t>
            </a:r>
            <a:endParaRPr lang="zh-CN" altLang="en-US">
              <a:sym typeface="+mn-ea"/>
            </a:endParaRPr>
          </a:p>
          <a:p>
            <a:pPr marL="742950" lvl="1" indent="-285750">
              <a:buFont typeface="Arial" panose="020B0604020202020204" pitchFamily="34" charset="0"/>
              <a:buChar char="•"/>
            </a:pPr>
            <a:r>
              <a:rPr lang="zh-CN" altLang="en-US">
                <a:sym typeface="+mn-ea"/>
              </a:rPr>
              <a:t>需求1：升版重新握手后需要置空相关列的信息</a:t>
            </a:r>
            <a:endParaRPr lang="zh-CN" altLang="en-US"/>
          </a:p>
          <a:p>
            <a:pPr marL="742950" lvl="1" indent="-285750">
              <a:buFont typeface="Arial" panose="020B0604020202020204" pitchFamily="34" charset="0"/>
              <a:buChar char="•"/>
            </a:pPr>
            <a:r>
              <a:rPr lang="zh-CN" altLang="en-US">
                <a:sym typeface="+mn-ea"/>
              </a:rPr>
              <a:t>需求2：流程变更管理（需要培训这方面的知识点）</a:t>
            </a:r>
            <a:endParaRPr lang="zh-CN" altLang="en-US">
              <a:sym typeface="+mn-ea"/>
            </a:endParaRPr>
          </a:p>
          <a:p>
            <a:pPr marL="742950" lvl="1" indent="-285750">
              <a:buFont typeface="Arial" panose="020B0604020202020204" pitchFamily="34" charset="0"/>
              <a:buChar char="•"/>
            </a:pPr>
            <a:r>
              <a:rPr lang="zh-CN" altLang="en-US">
                <a:sym typeface="+mn-ea"/>
              </a:rPr>
              <a:t>需求3：信号列表导出模板及逻辑变更</a:t>
            </a:r>
            <a:endParaRPr lang="zh-CN" altLang="en-US"/>
          </a:p>
          <a:p>
            <a:pPr marL="742950" lvl="1" indent="-285750">
              <a:buFont typeface="Arial" panose="020B0604020202020204" pitchFamily="34" charset="0"/>
              <a:buChar char="•"/>
            </a:pPr>
            <a:r>
              <a:rPr lang="zh-CN" altLang="en-US">
                <a:sym typeface="+mn-ea"/>
              </a:rPr>
              <a:t>需求4：文档导出的地方没体现关联的配置字信息</a:t>
            </a:r>
            <a:endParaRPr lang="zh-CN" altLang="en-US">
              <a:sym typeface="+mn-ea"/>
            </a:endParaRPr>
          </a:p>
          <a:p>
            <a:endParaRPr lang="zh-CN" altLang="en-US"/>
          </a:p>
        </p:txBody>
      </p:sp>
      <p:sp>
        <p:nvSpPr>
          <p:cNvPr id="10" name="文本框 9"/>
          <p:cNvSpPr txBox="1"/>
          <p:nvPr/>
        </p:nvSpPr>
        <p:spPr>
          <a:xfrm>
            <a:off x="728980" y="3816985"/>
            <a:ext cx="10150475" cy="2065020"/>
          </a:xfrm>
          <a:prstGeom prst="rect">
            <a:avLst/>
          </a:prstGeom>
          <a:noFill/>
        </p:spPr>
        <p:txBody>
          <a:bodyPr wrap="square" rtlCol="0">
            <a:noAutofit/>
          </a:bodyPr>
          <a:p>
            <a:r>
              <a:rPr lang="zh-CN" altLang="en-US"/>
              <a:t>二、深入参与</a:t>
            </a:r>
            <a:r>
              <a:rPr lang="en-US" altLang="zh-CN"/>
              <a:t>BI</a:t>
            </a:r>
            <a:r>
              <a:rPr lang="zh-CN" altLang="en-US"/>
              <a:t>报表体系建设，提升复杂业务实现能力</a:t>
            </a:r>
            <a:endParaRPr lang="zh-CN" altLang="en-US"/>
          </a:p>
          <a:p>
            <a:pPr indent="457200"/>
            <a:r>
              <a:rPr lang="zh-CN" altLang="en-US"/>
              <a:t>在</a:t>
            </a:r>
            <a:r>
              <a:rPr lang="en-US" altLang="zh-CN"/>
              <a:t>BI</a:t>
            </a:r>
            <a:r>
              <a:rPr lang="zh-CN" altLang="en-US"/>
              <a:t>报表项目后续工作中，持续参与报表开发与优化工作，重点关注真实业务场景落地能力，参与多类型报表的需求分析（主要针对行政报表和人资</a:t>
            </a:r>
            <a:r>
              <a:rPr lang="zh-CN" altLang="en-US"/>
              <a:t>报表）、</a:t>
            </a:r>
            <a:r>
              <a:rPr lang="en-US" altLang="zh-CN"/>
              <a:t>SQL</a:t>
            </a:r>
            <a:r>
              <a:rPr lang="zh-CN" altLang="en-US"/>
              <a:t>设计及数据建模过程，提升复杂业务指标拆解能力与多维度数据表达能力，推动报表开发从“功能实现”向“业务价值呈现”转变，积累通用报表模板与可复用实现方案</a:t>
            </a:r>
            <a:r>
              <a:rPr lang="zh-CN" altLang="en-US"/>
              <a:t>去提升交付效率。</a:t>
            </a:r>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advClick="0" advTm="3000"/>
    </mc:Choice>
    <mc:Fallback>
      <p:transition advClick="0" advTm="3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75372" y="289586"/>
            <a:ext cx="8980862" cy="521970"/>
          </a:xfrm>
          <a:prstGeom prst="rect">
            <a:avLst/>
          </a:prstGeom>
          <a:noFill/>
        </p:spPr>
        <p:txBody>
          <a:bodyPr wrap="square" rtlCol="0" anchor="t">
            <a:spAutoFit/>
            <a:scene3d>
              <a:camera prst="orthographicFront"/>
              <a:lightRig rig="threePt" dir="t"/>
            </a:scene3d>
          </a:bodyPr>
          <a:lstStyle/>
          <a:p>
            <a:pPr indent="0">
              <a:buFont typeface="Wingdings" panose="05000000000000000000" pitchFamily="2" charset="2"/>
              <a:buNone/>
              <a:defRPr/>
            </a:pPr>
            <a:r>
              <a:rPr kumimoji="0" lang="en-US" altLang="zh-CN" sz="2800" b="1" i="0" kern="1200" cap="none" spc="0" normalizeH="0" baseline="0" dirty="0">
                <a:solidFill>
                  <a:srgbClr val="0028AA"/>
                </a:solidFill>
                <a:latin typeface="微软雅黑" panose="020B0503020204020204" pitchFamily="34" charset="-122"/>
                <a:ea typeface="微软雅黑" panose="020B0503020204020204" pitchFamily="34" charset="-122"/>
                <a:sym typeface="+mn-ea"/>
              </a:rPr>
              <a:t>4</a:t>
            </a:r>
            <a:r>
              <a:rPr kumimoji="0" lang="zh-CN" altLang="en-US" sz="2800" b="1" i="0" kern="1200" cap="none" spc="0" normalizeH="0" baseline="0" dirty="0">
                <a:solidFill>
                  <a:srgbClr val="0028AA"/>
                </a:solidFill>
                <a:latin typeface="微软雅黑" panose="020B0503020204020204" pitchFamily="34" charset="-122"/>
                <a:ea typeface="微软雅黑" panose="020B0503020204020204" pitchFamily="34" charset="-122"/>
                <a:sym typeface="+mn-ea"/>
              </a:rPr>
              <a:t>、需要支持事项及对公司的</a:t>
            </a:r>
            <a:r>
              <a:rPr kumimoji="0" lang="zh-CN" altLang="en-US" sz="2800" b="1" i="0" kern="1200" cap="none" spc="0" normalizeH="0" baseline="0" dirty="0">
                <a:solidFill>
                  <a:srgbClr val="0028AA"/>
                </a:solidFill>
                <a:latin typeface="微软雅黑" panose="020B0503020204020204" pitchFamily="34" charset="-122"/>
                <a:ea typeface="微软雅黑" panose="020B0503020204020204" pitchFamily="34" charset="-122"/>
                <a:sym typeface="+mn-ea"/>
              </a:rPr>
              <a:t>建议</a:t>
            </a:r>
            <a:endParaRPr kumimoji="0" lang="zh-CN" altLang="en-US" sz="2800" b="1" i="0" kern="1200" cap="none" spc="0" normalizeH="0" baseline="0" dirty="0">
              <a:solidFill>
                <a:srgbClr val="0028AA"/>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786130" y="1312545"/>
            <a:ext cx="10394315" cy="2116455"/>
          </a:xfrm>
          <a:prstGeom prst="rect">
            <a:avLst/>
          </a:prstGeom>
          <a:noFill/>
        </p:spPr>
        <p:txBody>
          <a:bodyPr wrap="square" rtlCol="0">
            <a:noAutofit/>
          </a:bodyPr>
          <a:p>
            <a:r>
              <a:rPr lang="en-US" altLang="zh-CN"/>
              <a:t>1.</a:t>
            </a:r>
            <a:r>
              <a:rPr lang="zh-CN" altLang="en-US"/>
              <a:t>建议对公司现有研发与测试体系中的环境配置进行统一梳理与集中管理，包括但不限于：</a:t>
            </a:r>
            <a:endParaRPr lang="zh-CN" altLang="en-US"/>
          </a:p>
          <a:p>
            <a:pPr marL="742950" lvl="1" indent="-285750">
              <a:buFont typeface="Arial" panose="020B0604020202020204" pitchFamily="34" charset="0"/>
              <a:buChar char="•"/>
            </a:pPr>
            <a:r>
              <a:rPr lang="zh-CN" altLang="en-US"/>
              <a:t>不同环境（开发 / 测试 / 预发 / 生产）的服务地址统一归档；</a:t>
            </a:r>
            <a:endParaRPr lang="zh-CN" altLang="en-US"/>
          </a:p>
          <a:p>
            <a:pPr marL="742950" lvl="1" indent="-285750">
              <a:buFont typeface="Arial" panose="020B0604020202020204" pitchFamily="34" charset="0"/>
              <a:buChar char="•"/>
            </a:pPr>
            <a:r>
              <a:rPr lang="zh-CN" altLang="en-US"/>
              <a:t>数据库连接信息（</a:t>
            </a:r>
            <a:r>
              <a:rPr lang="en-US" altLang="zh-CN"/>
              <a:t>MySQL / Oracle </a:t>
            </a:r>
            <a:r>
              <a:rPr lang="zh-CN" altLang="en-US"/>
              <a:t>等）按环境分类维护；</a:t>
            </a:r>
            <a:endParaRPr lang="zh-CN" altLang="en-US"/>
          </a:p>
          <a:p>
            <a:pPr marL="742950" lvl="1" indent="-285750">
              <a:buFont typeface="Arial" panose="020B0604020202020204" pitchFamily="34" charset="0"/>
              <a:buChar char="•"/>
            </a:pPr>
            <a:r>
              <a:rPr lang="zh-CN" altLang="en-US"/>
              <a:t>中间件配置统一管理（如 </a:t>
            </a:r>
            <a:r>
              <a:rPr lang="en-US" altLang="zh-CN"/>
              <a:t>Redis </a:t>
            </a:r>
            <a:r>
              <a:rPr lang="zh-CN" altLang="en-US"/>
              <a:t>集群、</a:t>
            </a:r>
            <a:r>
              <a:rPr lang="en-US" altLang="zh-CN"/>
              <a:t>RabbitMQ、</a:t>
            </a:r>
            <a:r>
              <a:rPr lang="en-US" altLang="zh-CN"/>
              <a:t>Eureka </a:t>
            </a:r>
            <a:r>
              <a:rPr lang="zh-CN" altLang="en-US"/>
              <a:t>等）；</a:t>
            </a:r>
            <a:endParaRPr lang="zh-CN" altLang="en-US"/>
          </a:p>
          <a:p>
            <a:pPr marL="742950" lvl="1" indent="-285750">
              <a:buFont typeface="Arial" panose="020B0604020202020204" pitchFamily="34" charset="0"/>
              <a:buChar char="•"/>
            </a:pPr>
            <a:r>
              <a:rPr lang="zh-CN" altLang="en-US"/>
              <a:t>各环境端口、账号权限及访问方式规范化整理；</a:t>
            </a:r>
            <a:endParaRPr lang="zh-CN" altLang="en-US"/>
          </a:p>
          <a:p>
            <a:pPr lvl="1" indent="0">
              <a:buFont typeface="Arial" panose="020B0604020202020204" pitchFamily="34" charset="0"/>
              <a:buNone/>
            </a:pPr>
            <a:r>
              <a:rPr lang="zh-CN" altLang="en-US"/>
              <a:t>通过建立统一的环境与基础设施配置清单，提升研发人员查找与接入效率，减少重复询问成本，</a:t>
            </a:r>
            <a:endParaRPr lang="zh-CN" altLang="en-US"/>
          </a:p>
          <a:p>
            <a:r>
              <a:rPr lang="zh-CN" altLang="en-US"/>
              <a:t>降低误连生产环境或配置错误的风险，提升新成员上手速度。</a:t>
            </a:r>
            <a:endParaRPr lang="zh-CN" altLang="en-US"/>
          </a:p>
          <a:p>
            <a:endParaRPr lang="en-US" altLang="zh-CN"/>
          </a:p>
          <a:p>
            <a:endParaRPr lang="zh-CN" altLang="en-US"/>
          </a:p>
        </p:txBody>
      </p:sp>
      <p:sp>
        <p:nvSpPr>
          <p:cNvPr id="3" name="文本框 2"/>
          <p:cNvSpPr txBox="1"/>
          <p:nvPr/>
        </p:nvSpPr>
        <p:spPr>
          <a:xfrm>
            <a:off x="786130" y="3930015"/>
            <a:ext cx="9744075" cy="922020"/>
          </a:xfrm>
          <a:prstGeom prst="rect">
            <a:avLst/>
          </a:prstGeom>
          <a:noFill/>
        </p:spPr>
        <p:txBody>
          <a:bodyPr wrap="square" rtlCol="0">
            <a:spAutoFit/>
          </a:bodyPr>
          <a:p>
            <a:r>
              <a:rPr lang="en-US" altLang="zh-CN"/>
              <a:t>2.</a:t>
            </a:r>
            <a:r>
              <a:rPr lang="zh-CN" altLang="en-US"/>
              <a:t>供应商协作机制</a:t>
            </a:r>
            <a:endParaRPr lang="zh-CN" altLang="en-US"/>
          </a:p>
          <a:p>
            <a:pPr indent="457200"/>
            <a:r>
              <a:rPr lang="zh-CN" altLang="en-US"/>
              <a:t>对外部供应商支持事项，建议建立更明确的响应机制与问题分级处理流程，提高问题闭环效率，减少多轮沟通成本。</a:t>
            </a:r>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0" advClick="0" advTm="3000"/>
    </mc:Choice>
    <mc:Fallback>
      <p:transition advClick="0" advTm="3000"/>
    </mc:Fallback>
  </mc:AlternateContent>
</p:sld>
</file>

<file path=ppt/tags/tag1.xml><?xml version="1.0" encoding="utf-8"?>
<p:tagLst xmlns:p="http://schemas.openxmlformats.org/presentationml/2006/main">
  <p:tag name="RESOURCE_RECORD_KEY" val="{&quot;70&quot;:[3321764]}"/>
</p:tagLst>
</file>

<file path=ppt/tags/tag2.xml><?xml version="1.0" encoding="utf-8"?>
<p:tagLst xmlns:p="http://schemas.openxmlformats.org/presentationml/2006/main">
  <p:tag name="RESOURCE_RECORD_KEY" val="{&quot;70&quot;:[3321764]}"/>
</p:tagLst>
</file>

<file path=ppt/tags/tag3.xml><?xml version="1.0" encoding="utf-8"?>
<p:tagLst xmlns:p="http://schemas.openxmlformats.org/presentationml/2006/main">
  <p:tag name="RESOURCE_RECORD_KEY" val="{&quot;70&quot;:[3321764]}"/>
</p:tagLst>
</file>

<file path=ppt/tags/tag4.xml><?xml version="1.0" encoding="utf-8"?>
<p:tagLst xmlns:p="http://schemas.openxmlformats.org/presentationml/2006/main">
  <p:tag name="RESOURCE_RECORD_KEY" val="{&quot;70&quot;:[3321764]}"/>
</p:tagLst>
</file>

<file path=ppt/tags/tag5.xml><?xml version="1.0" encoding="utf-8"?>
<p:tagLst xmlns:p="http://schemas.openxmlformats.org/presentationml/2006/main">
  <p:tag name="RESOURCE_RECORD_KEY" val="{&quot;70&quot;:[3321764]}"/>
</p:tagLst>
</file>

<file path=ppt/tags/tag6.xml><?xml version="1.0" encoding="utf-8"?>
<p:tagLst xmlns:p="http://schemas.openxmlformats.org/presentationml/2006/main">
  <p:tag name="RESOURCE_RECORD_KEY" val="{&quot;70&quot;:[3321764]}"/>
</p:tagLst>
</file>

<file path=ppt/tags/tag7.xml><?xml version="1.0" encoding="utf-8"?>
<p:tagLst xmlns:p="http://schemas.openxmlformats.org/presentationml/2006/main">
  <p:tag name="KSO_WPP_MARK_KEY" val="ef82c4b2-c2bf-4b3c-bdc5-83262d7f0ce1"/>
  <p:tag name="RESOURCE_RECORD_KEY" val="{&quot;13&quot;:[4364952],&quot;65&quot;:[20187308]}"/>
  <p:tag name="COMMONDATA" val="eyJoZGlkIjoiYzE5MTgwNTM1YzRjNGM2NmJjY2FmYzBmYjZmMDdmNmUifQ=="/>
</p:tagLst>
</file>

<file path=ppt/theme/theme1.xml><?xml version="1.0" encoding="utf-8"?>
<a:theme xmlns:a="http://schemas.openxmlformats.org/drawingml/2006/main" name="4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楚能蓝色版式">
  <a:themeElements>
    <a:clrScheme name="自定义 15">
      <a:dk1>
        <a:sysClr val="windowText" lastClr="000000"/>
      </a:dk1>
      <a:lt1>
        <a:sysClr val="window" lastClr="FFFFFF"/>
      </a:lt1>
      <a:dk2>
        <a:srgbClr val="2D3847"/>
      </a:dk2>
      <a:lt2>
        <a:srgbClr val="E7E6E6"/>
      </a:lt2>
      <a:accent1>
        <a:srgbClr val="0028AA"/>
      </a:accent1>
      <a:accent2>
        <a:srgbClr val="D8D8D8"/>
      </a:accent2>
      <a:accent3>
        <a:srgbClr val="BFBFBF"/>
      </a:accent3>
      <a:accent4>
        <a:srgbClr val="A5A5A5"/>
      </a:accent4>
      <a:accent5>
        <a:srgbClr val="7F7F7F"/>
      </a:accent5>
      <a:accent6>
        <a:srgbClr val="595959"/>
      </a:accent6>
      <a:hlink>
        <a:srgbClr val="0563C1"/>
      </a:hlink>
      <a:folHlink>
        <a:srgbClr val="954F72"/>
      </a:folHlink>
    </a:clrScheme>
    <a:fontScheme name="Arial-微软">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a:solidFill>
            <a:schemeClr val="accent1"/>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lnDef>
      <a:spPr>
        <a:ln w="12700"/>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54445254d806000001006a03000000003239396264353537356234313563623333643731643737353362613661383932000000000000000000000000000000000000000000000000000000000000000039623730613638356665663632623030373664316332646166356366616638660000000000000000338800000f5be0690000000000eb3d6a00000000338800000000000041660000000000000000000000000000000000000000000000000000000000000000000000000000000000000000000000000000000000000000000000000000000000000000000000000000000000000000000000000000000000000000000000000000000000000000000000000000000000000000000000000000ed90eb5f07684d91f0530f5f3a67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ed90eb5f07684d91f0530f5f3a67000000000000000000000000000000000000000000000000000000000000000000000000000000000000000000000000000000000000000000000000000000000000000000000000000000000000000000000000000000000000000000000000000000000000000000006300680072006f006d0065002e006500780065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040000000000000092e2400000000000d8ea3d6a3962373061363835666566363262303037366431633264616635636661663866</Template>
  <TotalTime>0</TotalTime>
  <Words>1396</Words>
  <Application>WPS 演示</Application>
  <PresentationFormat>宽屏</PresentationFormat>
  <Paragraphs>80</Paragraphs>
  <Slides>8</Slides>
  <Notes>2</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8</vt:i4>
      </vt:variant>
    </vt:vector>
  </HeadingPairs>
  <TitlesOfParts>
    <vt:vector size="26" baseType="lpstr">
      <vt:lpstr>Arial</vt:lpstr>
      <vt:lpstr>宋体</vt:lpstr>
      <vt:lpstr>Wingdings</vt:lpstr>
      <vt:lpstr>等线</vt:lpstr>
      <vt:lpstr>Calibri</vt:lpstr>
      <vt:lpstr>微软雅黑 Semibold</vt:lpstr>
      <vt:lpstr>黑体</vt:lpstr>
      <vt:lpstr>Arial</vt:lpstr>
      <vt:lpstr>微软雅黑</vt:lpstr>
      <vt:lpstr>汉仪雅酷黑 75W</vt:lpstr>
      <vt:lpstr>汉仪雅酷黑 75W</vt:lpstr>
      <vt:lpstr>汉仪中黑 197</vt:lpstr>
      <vt:lpstr>微软雅黑 Light</vt:lpstr>
      <vt:lpstr>Arial Unicode MS</vt:lpstr>
      <vt:lpstr>等线 Light</vt:lpstr>
      <vt:lpstr>Calibri Light</vt:lpstr>
      <vt:lpstr>4_Office 主题​​</vt:lpstr>
      <vt:lpstr>楚能蓝色版式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 R 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楚能新能源</dc:title>
  <dc:creator>Windows User</dc:creator>
  <cp:lastModifiedBy>WPS_1779419926</cp:lastModifiedBy>
  <cp:revision>2360</cp:revision>
  <dcterms:created xsi:type="dcterms:W3CDTF">2022-06-21T09:57:00Z</dcterms:created>
  <dcterms:modified xsi:type="dcterms:W3CDTF">2026-06-26T03:41:50Z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5DCD16DCB56D428A92003B9C13AE3A8C_13</vt:lpwstr>
  </property>
  <property fmtid="{D5CDD505-2E9C-101B-9397-08002B2CF9AE}" pid="3" name="KSOProductBuildVer">
    <vt:lpwstr>2052-12.1.0.26880</vt:lpwstr>
  </property>
</Properties>
</file>